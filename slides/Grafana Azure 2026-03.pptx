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404" r:id="rId5"/>
    <p:sldMasterId id="2147484428" r:id="rId6"/>
    <p:sldMasterId id="2147484455" r:id="rId7"/>
  </p:sldMasterIdLst>
  <p:notesMasterIdLst>
    <p:notesMasterId r:id="rId26"/>
  </p:notesMasterIdLst>
  <p:handoutMasterIdLst>
    <p:handoutMasterId r:id="rId27"/>
  </p:handoutMasterIdLst>
  <p:sldIdLst>
    <p:sldId id="1393" r:id="rId8"/>
    <p:sldId id="1834" r:id="rId9"/>
    <p:sldId id="1837" r:id="rId10"/>
    <p:sldId id="1707" r:id="rId11"/>
    <p:sldId id="1765" r:id="rId12"/>
    <p:sldId id="1518" r:id="rId13"/>
    <p:sldId id="1758" r:id="rId14"/>
    <p:sldId id="1785" r:id="rId15"/>
    <p:sldId id="1752" r:id="rId16"/>
    <p:sldId id="1764" r:id="rId17"/>
    <p:sldId id="1766" r:id="rId18"/>
    <p:sldId id="1835" r:id="rId19"/>
    <p:sldId id="1779" r:id="rId20"/>
    <p:sldId id="1781" r:id="rId21"/>
    <p:sldId id="1782" r:id="rId22"/>
    <p:sldId id="1836" r:id="rId23"/>
    <p:sldId id="1615" r:id="rId24"/>
    <p:sldId id="1786" r:id="rId25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gnite 2016 Template Light" id="{A073DAE3-B461-442F-A3D3-6642BD875E45}">
          <p14:sldIdLst>
            <p14:sldId id="1393"/>
            <p14:sldId id="1834"/>
            <p14:sldId id="1837"/>
            <p14:sldId id="1707"/>
            <p14:sldId id="1765"/>
            <p14:sldId id="1518"/>
            <p14:sldId id="1758"/>
            <p14:sldId id="1785"/>
            <p14:sldId id="1752"/>
            <p14:sldId id="1764"/>
            <p14:sldId id="1766"/>
            <p14:sldId id="1835"/>
            <p14:sldId id="1779"/>
            <p14:sldId id="1781"/>
            <p14:sldId id="1782"/>
          </p14:sldIdLst>
        </p14:section>
        <p14:section name="Finalizando" id="{CF622469-3E87-46BA-8ED6-912C47B00EF3}">
          <p14:sldIdLst>
            <p14:sldId id="1836"/>
            <p14:sldId id="1615"/>
            <p14:sldId id="17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3">
          <p15:clr>
            <a:srgbClr val="A4A3A4"/>
          </p15:clr>
        </p15:guide>
        <p15:guide id="2" pos="3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B2B2B2"/>
    <a:srgbClr val="EAEAEA"/>
    <a:srgbClr val="F8F8F8"/>
    <a:srgbClr val="FFFFCC"/>
    <a:srgbClr val="CCECFF"/>
    <a:srgbClr val="3366CC"/>
    <a:srgbClr val="008080"/>
    <a:srgbClr val="FFFBD9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88" autoAdjust="0"/>
    <p:restoredTop sz="79472" autoAdjust="0"/>
  </p:normalViewPr>
  <p:slideViewPr>
    <p:cSldViewPr>
      <p:cViewPr varScale="1">
        <p:scale>
          <a:sx n="105" d="100"/>
          <a:sy n="105" d="100"/>
        </p:scale>
        <p:origin x="528" y="96"/>
      </p:cViewPr>
      <p:guideLst>
        <p:guide orient="horz" pos="2203"/>
        <p:guide pos="3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52"/>
    </p:cViewPr>
  </p:sorterViewPr>
  <p:notesViewPr>
    <p:cSldViewPr showGuides="1">
      <p:cViewPr varScale="1">
        <p:scale>
          <a:sx n="83" d="100"/>
          <a:sy n="83" d="100"/>
        </p:scale>
        <p:origin x="232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commentAuthors" Target="comment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Microsoft Ignite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3/20/2026 1:32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/>
              <a:t>Microsoft Ignite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3/20/2026 1:32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3/20/2026 1:32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5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92F4D-3553-4E06-C643-2B59F289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703DEFB-E6DA-E25E-CBC0-46CDAE2BA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6DD011C-1837-A5CC-CD1B-9FDF3B542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FEA146-1BDC-D679-FC1F-7B56DC72BC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16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32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3/20/2026 1:32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576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3/20/2026 1:32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34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3/20/2026 1:32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867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1CD4D-62D5-36BF-69C8-03D0668D9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BED9F94-8BD2-A6BF-E160-E9CF383A9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8723A02-3298-44B6-427E-3E2D2F2B7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93BAB816-1C4E-B535-32EB-5FB477AEA6A1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14B402-36F5-3F62-C751-59AE5EB9F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D66502AA-0661-B9A3-156D-3787AD48E3C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3/20/2026 1:32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181E2E-6C0E-BCED-F317-805AB12E22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3306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3/20/2026 1:32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89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3/20/2026 1:32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8315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3/20/2026 1:32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55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D8EDF-5FB1-7A60-A049-1480503BF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7A00F8A-218B-F2BD-19B3-160B92128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2853825-A968-9FE7-F2D5-42DB75F3E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4F3ADDA9-889F-81C6-ED7C-1B8AFEC367F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75092D-5AA8-FCE4-2B94-D4D527C3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F5E98BDC-1753-592D-2DA9-A20C094A2FF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3/20/2026 1:32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BAB4DB-93E1-4B2D-6358-7D75C9FC2D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2997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9AD95-7DE9-19A3-2B1D-773A9BC36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02B7F9D-9AE0-2903-E648-B3A863D0C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CFD6685-AB12-461C-F983-070CDE670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993685AD-5655-AD18-7ABA-3E208A621A7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8BB352-9E99-748F-8D16-85DE1D717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B8BCE39E-96C5-186F-DA26-8DDAF45C64B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3/20/2026 1:32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6FC642-ECB7-04F9-E571-8A843964DCA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0631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F4DBC-804D-502D-1608-1B3359144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5704DB2-AA5E-63DE-A9F9-DAC350FFB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14AD7FD-C59A-8AD8-E6F9-FB517FD88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BA38C367-4B74-DBAE-095A-F8D8DEA4854C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946478-4BA8-75B4-0B03-26678BBEB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51BB29B9-46C6-5F18-B1AA-5108292996A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3/20/2026 1:32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5968C3-553C-0FB1-6F41-C26C41E2D2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900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D4C38-C2FA-35F9-FA45-68EBE9B5F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F3BEB6E-DBB9-B333-95F6-061E429BA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E1A6029-F5BF-B6C8-FDCE-809B4772E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57C278EA-776F-458B-C139-9D824C2602DC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A44395-FBE1-7BDF-0A5E-7D6DA1069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B88F7F5-2AFB-46C9-8D24-AE1D47BB788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3/20/2026 1:32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88240C-0C04-060C-5E0A-99F19A8F3F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2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05C3D-169F-067D-B676-80182D38F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9638AAF-8045-26BC-E5E9-610D7DEDD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21B55ED-A848-A3FC-8298-7508BFE98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C3E3C30D-8DD4-A7F4-9DC4-0E00FBC81E8B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CB70E6-3DC1-864A-7CE4-3C58D7FFD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0DC2CB-F1BA-6640-11FB-A34F64F8D759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3/20/2026 1:32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30875B-074E-1C9D-C4DB-78A4A7BB90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1292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3/20/2026 1:32 PM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099733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EA94F-B4E1-AF9A-E838-67A292E0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E8B3C1-B31F-88DD-6AF6-D439A4B0E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3147E-C740-D55F-78A4-CA8C0D83E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727B100-3C0F-57A8-B2A1-E9F8AEA8A2E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B0F4E-DBA6-BFA9-1EA0-736928A26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91C13CF-6482-5DFA-A929-EDE6450232B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3/20/2026 1:32 PM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D26C0-C60A-D91F-1F94-6CD03E8DFEE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25162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0092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88989" y="6072577"/>
            <a:ext cx="300223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aspnetConference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‬</a:t>
            </a:r>
          </a:p>
        </p:txBody>
      </p:sp>
    </p:spTree>
    <p:extLst>
      <p:ext uri="{BB962C8B-B14F-4D97-AF65-F5344CB8AC3E}">
        <p14:creationId xmlns:p14="http://schemas.microsoft.com/office/powerpoint/2010/main" val="2342740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E4A19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4079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3750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17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06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12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19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62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6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67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6224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0888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0740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245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5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7851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8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69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</p:spTree>
    <p:extLst>
      <p:ext uri="{BB962C8B-B14F-4D97-AF65-F5344CB8AC3E}">
        <p14:creationId xmlns:p14="http://schemas.microsoft.com/office/powerpoint/2010/main" val="1847824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1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27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700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9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0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4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8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7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9983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2279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43179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7793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92035">
                      <a:srgbClr val="000000"/>
                    </a:gs>
                    <a:gs pos="75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73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295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9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93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099056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6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31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9099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72E4-1EB3-4AD0-8A8C-9ACF3E18843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ADA7-AC71-4BF6-BCA0-0FC767D28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897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038" y="2125663"/>
            <a:ext cx="10058399" cy="18288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49299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189039" y="2125663"/>
            <a:ext cx="10058400" cy="91281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8847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90736"/>
            <a:ext cx="1449939" cy="306604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3196078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u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Freeform 7"/>
          <p:cNvSpPr>
            <a:spLocks noChangeAspect="1" noEditPoints="1"/>
          </p:cNvSpPr>
          <p:nvPr userDrawn="1"/>
        </p:nvSpPr>
        <p:spPr bwMode="black">
          <a:xfrm>
            <a:off x="457200" y="490736"/>
            <a:ext cx="1239006" cy="310896"/>
          </a:xfrm>
          <a:custGeom>
            <a:avLst/>
            <a:gdLst>
              <a:gd name="T0" fmla="*/ 336 w 2176"/>
              <a:gd name="T1" fmla="*/ 2 h 546"/>
              <a:gd name="T2" fmla="*/ 269 w 2176"/>
              <a:gd name="T3" fmla="*/ 2 h 546"/>
              <a:gd name="T4" fmla="*/ 48 w 2176"/>
              <a:gd name="T5" fmla="*/ 538 h 546"/>
              <a:gd name="T6" fmla="*/ 2128 w 2176"/>
              <a:gd name="T7" fmla="*/ 2 h 546"/>
              <a:gd name="T8" fmla="*/ 2176 w 2176"/>
              <a:gd name="T9" fmla="*/ 2 h 546"/>
              <a:gd name="T10" fmla="*/ 1049 w 2176"/>
              <a:gd name="T11" fmla="*/ 175 h 546"/>
              <a:gd name="T12" fmla="*/ 1025 w 2176"/>
              <a:gd name="T13" fmla="*/ 454 h 546"/>
              <a:gd name="T14" fmla="*/ 937 w 2176"/>
              <a:gd name="T15" fmla="*/ 473 h 546"/>
              <a:gd name="T16" fmla="*/ 892 w 2176"/>
              <a:gd name="T17" fmla="*/ 384 h 546"/>
              <a:gd name="T18" fmla="*/ 809 w 2176"/>
              <a:gd name="T19" fmla="*/ 394 h 546"/>
              <a:gd name="T20" fmla="*/ 975 w 2176"/>
              <a:gd name="T21" fmla="*/ 540 h 546"/>
              <a:gd name="T22" fmla="*/ 1048 w 2176"/>
              <a:gd name="T23" fmla="*/ 482 h 546"/>
              <a:gd name="T24" fmla="*/ 1131 w 2176"/>
              <a:gd name="T25" fmla="*/ 536 h 546"/>
              <a:gd name="T26" fmla="*/ 1293 w 2176"/>
              <a:gd name="T27" fmla="*/ 14 h 546"/>
              <a:gd name="T28" fmla="*/ 1238 w 2176"/>
              <a:gd name="T29" fmla="*/ 3 h 546"/>
              <a:gd name="T30" fmla="*/ 1207 w 2176"/>
              <a:gd name="T31" fmla="*/ 48 h 546"/>
              <a:gd name="T32" fmla="*/ 1237 w 2176"/>
              <a:gd name="T33" fmla="*/ 91 h 546"/>
              <a:gd name="T34" fmla="*/ 1293 w 2176"/>
              <a:gd name="T35" fmla="*/ 81 h 546"/>
              <a:gd name="T36" fmla="*/ 1216 w 2176"/>
              <a:gd name="T37" fmla="*/ 536 h 546"/>
              <a:gd name="T38" fmla="*/ 1216 w 2176"/>
              <a:gd name="T39" fmla="*/ 175 h 546"/>
              <a:gd name="T40" fmla="*/ 1457 w 2176"/>
              <a:gd name="T41" fmla="*/ 536 h 546"/>
              <a:gd name="T42" fmla="*/ 1376 w 2176"/>
              <a:gd name="T43" fmla="*/ 536 h 546"/>
              <a:gd name="T44" fmla="*/ 729 w 2176"/>
              <a:gd name="T45" fmla="*/ 213 h 546"/>
              <a:gd name="T46" fmla="*/ 573 w 2176"/>
              <a:gd name="T47" fmla="*/ 163 h 546"/>
              <a:gd name="T48" fmla="*/ 491 w 2176"/>
              <a:gd name="T49" fmla="*/ 226 h 546"/>
              <a:gd name="T50" fmla="*/ 460 w 2176"/>
              <a:gd name="T51" fmla="*/ 2 h 546"/>
              <a:gd name="T52" fmla="*/ 489 w 2176"/>
              <a:gd name="T53" fmla="*/ 537 h 546"/>
              <a:gd name="T54" fmla="*/ 509 w 2176"/>
              <a:gd name="T55" fmla="*/ 512 h 546"/>
              <a:gd name="T56" fmla="*/ 596 w 2176"/>
              <a:gd name="T57" fmla="*/ 546 h 546"/>
              <a:gd name="T58" fmla="*/ 754 w 2176"/>
              <a:gd name="T59" fmla="*/ 423 h 546"/>
              <a:gd name="T60" fmla="*/ 671 w 2176"/>
              <a:gd name="T61" fmla="*/ 400 h 546"/>
              <a:gd name="T62" fmla="*/ 578 w 2176"/>
              <a:gd name="T63" fmla="*/ 478 h 546"/>
              <a:gd name="T64" fmla="*/ 495 w 2176"/>
              <a:gd name="T65" fmla="*/ 421 h 546"/>
              <a:gd name="T66" fmla="*/ 496 w 2176"/>
              <a:gd name="T67" fmla="*/ 291 h 546"/>
              <a:gd name="T68" fmla="*/ 586 w 2176"/>
              <a:gd name="T69" fmla="*/ 226 h 546"/>
              <a:gd name="T70" fmla="*/ 672 w 2176"/>
              <a:gd name="T71" fmla="*/ 293 h 546"/>
              <a:gd name="T72" fmla="*/ 1866 w 2176"/>
              <a:gd name="T73" fmla="*/ 2 h 546"/>
              <a:gd name="T74" fmla="*/ 1783 w 2176"/>
              <a:gd name="T75" fmla="*/ 220 h 546"/>
              <a:gd name="T76" fmla="*/ 1716 w 2176"/>
              <a:gd name="T77" fmla="*/ 171 h 546"/>
              <a:gd name="T78" fmla="*/ 1561 w 2176"/>
              <a:gd name="T79" fmla="*/ 220 h 546"/>
              <a:gd name="T80" fmla="*/ 1526 w 2176"/>
              <a:gd name="T81" fmla="*/ 443 h 546"/>
              <a:gd name="T82" fmla="*/ 1665 w 2176"/>
              <a:gd name="T83" fmla="*/ 546 h 546"/>
              <a:gd name="T84" fmla="*/ 1763 w 2176"/>
              <a:gd name="T85" fmla="*/ 507 h 546"/>
              <a:gd name="T86" fmla="*/ 1785 w 2176"/>
              <a:gd name="T87" fmla="*/ 537 h 546"/>
              <a:gd name="T88" fmla="*/ 1778 w 2176"/>
              <a:gd name="T89" fmla="*/ 413 h 546"/>
              <a:gd name="T90" fmla="*/ 1692 w 2176"/>
              <a:gd name="T91" fmla="*/ 479 h 546"/>
              <a:gd name="T92" fmla="*/ 1607 w 2176"/>
              <a:gd name="T93" fmla="*/ 414 h 546"/>
              <a:gd name="T94" fmla="*/ 1624 w 2176"/>
              <a:gd name="T95" fmla="*/ 269 h 546"/>
              <a:gd name="T96" fmla="*/ 1732 w 2176"/>
              <a:gd name="T97" fmla="*/ 241 h 546"/>
              <a:gd name="T98" fmla="*/ 1786 w 2176"/>
              <a:gd name="T99" fmla="*/ 326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76" h="546">
                <a:moveTo>
                  <a:pt x="163" y="538"/>
                </a:moveTo>
                <a:cubicBezTo>
                  <a:pt x="116" y="538"/>
                  <a:pt x="116" y="538"/>
                  <a:pt x="116" y="538"/>
                </a:cubicBezTo>
                <a:cubicBezTo>
                  <a:pt x="336" y="2"/>
                  <a:pt x="336" y="2"/>
                  <a:pt x="336" y="2"/>
                </a:cubicBezTo>
                <a:cubicBezTo>
                  <a:pt x="384" y="2"/>
                  <a:pt x="384" y="2"/>
                  <a:pt x="384" y="2"/>
                </a:cubicBezTo>
                <a:lnTo>
                  <a:pt x="163" y="538"/>
                </a:lnTo>
                <a:close/>
                <a:moveTo>
                  <a:pt x="269" y="2"/>
                </a:moveTo>
                <a:cubicBezTo>
                  <a:pt x="221" y="2"/>
                  <a:pt x="221" y="2"/>
                  <a:pt x="221" y="2"/>
                </a:cubicBezTo>
                <a:cubicBezTo>
                  <a:pt x="0" y="538"/>
                  <a:pt x="0" y="538"/>
                  <a:pt x="0" y="538"/>
                </a:cubicBezTo>
                <a:cubicBezTo>
                  <a:pt x="48" y="538"/>
                  <a:pt x="48" y="538"/>
                  <a:pt x="48" y="538"/>
                </a:cubicBezTo>
                <a:lnTo>
                  <a:pt x="269" y="2"/>
                </a:lnTo>
                <a:close/>
                <a:moveTo>
                  <a:pt x="2176" y="2"/>
                </a:moveTo>
                <a:cubicBezTo>
                  <a:pt x="2128" y="2"/>
                  <a:pt x="2128" y="2"/>
                  <a:pt x="2128" y="2"/>
                </a:cubicBezTo>
                <a:cubicBezTo>
                  <a:pt x="1908" y="538"/>
                  <a:pt x="1908" y="538"/>
                  <a:pt x="1908" y="538"/>
                </a:cubicBezTo>
                <a:cubicBezTo>
                  <a:pt x="1955" y="538"/>
                  <a:pt x="1955" y="538"/>
                  <a:pt x="1955" y="538"/>
                </a:cubicBezTo>
                <a:lnTo>
                  <a:pt x="2176" y="2"/>
                </a:lnTo>
                <a:close/>
                <a:moveTo>
                  <a:pt x="1131" y="536"/>
                </a:moveTo>
                <a:cubicBezTo>
                  <a:pt x="1131" y="175"/>
                  <a:pt x="1131" y="175"/>
                  <a:pt x="1131" y="175"/>
                </a:cubicBezTo>
                <a:cubicBezTo>
                  <a:pt x="1049" y="175"/>
                  <a:pt x="1049" y="175"/>
                  <a:pt x="1049" y="175"/>
                </a:cubicBezTo>
                <a:cubicBezTo>
                  <a:pt x="1049" y="384"/>
                  <a:pt x="1049" y="384"/>
                  <a:pt x="1049" y="384"/>
                </a:cubicBezTo>
                <a:cubicBezTo>
                  <a:pt x="1049" y="399"/>
                  <a:pt x="1047" y="412"/>
                  <a:pt x="1042" y="424"/>
                </a:cubicBezTo>
                <a:cubicBezTo>
                  <a:pt x="1038" y="436"/>
                  <a:pt x="1032" y="446"/>
                  <a:pt x="1025" y="454"/>
                </a:cubicBezTo>
                <a:cubicBezTo>
                  <a:pt x="1017" y="462"/>
                  <a:pt x="1009" y="468"/>
                  <a:pt x="999" y="472"/>
                </a:cubicBezTo>
                <a:cubicBezTo>
                  <a:pt x="989" y="476"/>
                  <a:pt x="978" y="478"/>
                  <a:pt x="967" y="478"/>
                </a:cubicBezTo>
                <a:cubicBezTo>
                  <a:pt x="956" y="478"/>
                  <a:pt x="946" y="476"/>
                  <a:pt x="937" y="473"/>
                </a:cubicBezTo>
                <a:cubicBezTo>
                  <a:pt x="927" y="470"/>
                  <a:pt x="920" y="464"/>
                  <a:pt x="913" y="457"/>
                </a:cubicBezTo>
                <a:cubicBezTo>
                  <a:pt x="906" y="449"/>
                  <a:pt x="901" y="440"/>
                  <a:pt x="897" y="428"/>
                </a:cubicBezTo>
                <a:cubicBezTo>
                  <a:pt x="894" y="416"/>
                  <a:pt x="892" y="401"/>
                  <a:pt x="892" y="384"/>
                </a:cubicBezTo>
                <a:cubicBezTo>
                  <a:pt x="892" y="175"/>
                  <a:pt x="892" y="175"/>
                  <a:pt x="892" y="175"/>
                </a:cubicBezTo>
                <a:cubicBezTo>
                  <a:pt x="809" y="175"/>
                  <a:pt x="809" y="175"/>
                  <a:pt x="809" y="175"/>
                </a:cubicBezTo>
                <a:cubicBezTo>
                  <a:pt x="809" y="394"/>
                  <a:pt x="809" y="394"/>
                  <a:pt x="809" y="394"/>
                </a:cubicBezTo>
                <a:cubicBezTo>
                  <a:pt x="809" y="444"/>
                  <a:pt x="821" y="482"/>
                  <a:pt x="843" y="507"/>
                </a:cubicBezTo>
                <a:cubicBezTo>
                  <a:pt x="865" y="532"/>
                  <a:pt x="897" y="545"/>
                  <a:pt x="939" y="545"/>
                </a:cubicBezTo>
                <a:cubicBezTo>
                  <a:pt x="951" y="545"/>
                  <a:pt x="963" y="543"/>
                  <a:pt x="975" y="540"/>
                </a:cubicBezTo>
                <a:cubicBezTo>
                  <a:pt x="986" y="537"/>
                  <a:pt x="996" y="532"/>
                  <a:pt x="1005" y="526"/>
                </a:cubicBezTo>
                <a:cubicBezTo>
                  <a:pt x="1014" y="521"/>
                  <a:pt x="1022" y="514"/>
                  <a:pt x="1029" y="506"/>
                </a:cubicBezTo>
                <a:cubicBezTo>
                  <a:pt x="1037" y="499"/>
                  <a:pt x="1043" y="490"/>
                  <a:pt x="1048" y="482"/>
                </a:cubicBezTo>
                <a:cubicBezTo>
                  <a:pt x="1049" y="482"/>
                  <a:pt x="1049" y="482"/>
                  <a:pt x="1049" y="482"/>
                </a:cubicBezTo>
                <a:cubicBezTo>
                  <a:pt x="1049" y="536"/>
                  <a:pt x="1049" y="536"/>
                  <a:pt x="1049" y="536"/>
                </a:cubicBezTo>
                <a:lnTo>
                  <a:pt x="1131" y="536"/>
                </a:lnTo>
                <a:close/>
                <a:moveTo>
                  <a:pt x="1307" y="48"/>
                </a:moveTo>
                <a:cubicBezTo>
                  <a:pt x="1307" y="41"/>
                  <a:pt x="1306" y="35"/>
                  <a:pt x="1303" y="29"/>
                </a:cubicBezTo>
                <a:cubicBezTo>
                  <a:pt x="1301" y="23"/>
                  <a:pt x="1297" y="18"/>
                  <a:pt x="1293" y="14"/>
                </a:cubicBezTo>
                <a:cubicBezTo>
                  <a:pt x="1288" y="9"/>
                  <a:pt x="1283" y="6"/>
                  <a:pt x="1277" y="3"/>
                </a:cubicBezTo>
                <a:cubicBezTo>
                  <a:pt x="1271" y="1"/>
                  <a:pt x="1264" y="0"/>
                  <a:pt x="1257" y="0"/>
                </a:cubicBezTo>
                <a:cubicBezTo>
                  <a:pt x="1250" y="0"/>
                  <a:pt x="1244" y="1"/>
                  <a:pt x="1238" y="3"/>
                </a:cubicBezTo>
                <a:cubicBezTo>
                  <a:pt x="1232" y="6"/>
                  <a:pt x="1226" y="9"/>
                  <a:pt x="1222" y="13"/>
                </a:cubicBezTo>
                <a:cubicBezTo>
                  <a:pt x="1217" y="18"/>
                  <a:pt x="1214" y="23"/>
                  <a:pt x="1211" y="29"/>
                </a:cubicBezTo>
                <a:cubicBezTo>
                  <a:pt x="1209" y="34"/>
                  <a:pt x="1207" y="41"/>
                  <a:pt x="1207" y="48"/>
                </a:cubicBezTo>
                <a:cubicBezTo>
                  <a:pt x="1207" y="54"/>
                  <a:pt x="1209" y="60"/>
                  <a:pt x="1211" y="66"/>
                </a:cubicBezTo>
                <a:cubicBezTo>
                  <a:pt x="1214" y="72"/>
                  <a:pt x="1217" y="77"/>
                  <a:pt x="1221" y="81"/>
                </a:cubicBezTo>
                <a:cubicBezTo>
                  <a:pt x="1226" y="85"/>
                  <a:pt x="1231" y="88"/>
                  <a:pt x="1237" y="91"/>
                </a:cubicBezTo>
                <a:cubicBezTo>
                  <a:pt x="1243" y="93"/>
                  <a:pt x="1250" y="95"/>
                  <a:pt x="1257" y="95"/>
                </a:cubicBezTo>
                <a:cubicBezTo>
                  <a:pt x="1264" y="95"/>
                  <a:pt x="1271" y="93"/>
                  <a:pt x="1277" y="91"/>
                </a:cubicBezTo>
                <a:cubicBezTo>
                  <a:pt x="1283" y="88"/>
                  <a:pt x="1289" y="85"/>
                  <a:pt x="1293" y="81"/>
                </a:cubicBezTo>
                <a:cubicBezTo>
                  <a:pt x="1297" y="77"/>
                  <a:pt x="1301" y="72"/>
                  <a:pt x="1303" y="66"/>
                </a:cubicBezTo>
                <a:cubicBezTo>
                  <a:pt x="1306" y="60"/>
                  <a:pt x="1307" y="54"/>
                  <a:pt x="1307" y="48"/>
                </a:cubicBezTo>
                <a:moveTo>
                  <a:pt x="1216" y="536"/>
                </a:moveTo>
                <a:cubicBezTo>
                  <a:pt x="1297" y="536"/>
                  <a:pt x="1297" y="536"/>
                  <a:pt x="1297" y="536"/>
                </a:cubicBezTo>
                <a:cubicBezTo>
                  <a:pt x="1297" y="175"/>
                  <a:pt x="1297" y="175"/>
                  <a:pt x="1297" y="175"/>
                </a:cubicBezTo>
                <a:cubicBezTo>
                  <a:pt x="1216" y="175"/>
                  <a:pt x="1216" y="175"/>
                  <a:pt x="1216" y="175"/>
                </a:cubicBezTo>
                <a:lnTo>
                  <a:pt x="1216" y="536"/>
                </a:lnTo>
                <a:close/>
                <a:moveTo>
                  <a:pt x="1376" y="536"/>
                </a:moveTo>
                <a:cubicBezTo>
                  <a:pt x="1457" y="536"/>
                  <a:pt x="1457" y="536"/>
                  <a:pt x="1457" y="536"/>
                </a:cubicBezTo>
                <a:cubicBezTo>
                  <a:pt x="1457" y="2"/>
                  <a:pt x="1457" y="2"/>
                  <a:pt x="1457" y="2"/>
                </a:cubicBezTo>
                <a:cubicBezTo>
                  <a:pt x="1376" y="2"/>
                  <a:pt x="1376" y="2"/>
                  <a:pt x="1376" y="2"/>
                </a:cubicBezTo>
                <a:lnTo>
                  <a:pt x="1376" y="536"/>
                </a:lnTo>
                <a:close/>
                <a:moveTo>
                  <a:pt x="765" y="342"/>
                </a:moveTo>
                <a:cubicBezTo>
                  <a:pt x="765" y="317"/>
                  <a:pt x="762" y="294"/>
                  <a:pt x="756" y="272"/>
                </a:cubicBezTo>
                <a:cubicBezTo>
                  <a:pt x="750" y="249"/>
                  <a:pt x="741" y="230"/>
                  <a:pt x="729" y="213"/>
                </a:cubicBezTo>
                <a:cubicBezTo>
                  <a:pt x="717" y="196"/>
                  <a:pt x="701" y="183"/>
                  <a:pt x="682" y="173"/>
                </a:cubicBezTo>
                <a:cubicBezTo>
                  <a:pt x="663" y="163"/>
                  <a:pt x="640" y="158"/>
                  <a:pt x="613" y="158"/>
                </a:cubicBezTo>
                <a:cubicBezTo>
                  <a:pt x="599" y="158"/>
                  <a:pt x="585" y="160"/>
                  <a:pt x="573" y="163"/>
                </a:cubicBezTo>
                <a:cubicBezTo>
                  <a:pt x="561" y="166"/>
                  <a:pt x="549" y="171"/>
                  <a:pt x="539" y="177"/>
                </a:cubicBezTo>
                <a:cubicBezTo>
                  <a:pt x="529" y="183"/>
                  <a:pt x="520" y="190"/>
                  <a:pt x="512" y="199"/>
                </a:cubicBezTo>
                <a:cubicBezTo>
                  <a:pt x="504" y="207"/>
                  <a:pt x="497" y="216"/>
                  <a:pt x="491" y="226"/>
                </a:cubicBezTo>
                <a:cubicBezTo>
                  <a:pt x="489" y="226"/>
                  <a:pt x="489" y="226"/>
                  <a:pt x="489" y="226"/>
                </a:cubicBezTo>
                <a:cubicBezTo>
                  <a:pt x="489" y="2"/>
                  <a:pt x="489" y="2"/>
                  <a:pt x="489" y="2"/>
                </a:cubicBezTo>
                <a:cubicBezTo>
                  <a:pt x="460" y="2"/>
                  <a:pt x="460" y="2"/>
                  <a:pt x="460" y="2"/>
                </a:cubicBezTo>
                <a:cubicBezTo>
                  <a:pt x="406" y="133"/>
                  <a:pt x="406" y="133"/>
                  <a:pt x="406" y="133"/>
                </a:cubicBezTo>
                <a:cubicBezTo>
                  <a:pt x="406" y="537"/>
                  <a:pt x="406" y="537"/>
                  <a:pt x="406" y="537"/>
                </a:cubicBezTo>
                <a:cubicBezTo>
                  <a:pt x="489" y="537"/>
                  <a:pt x="489" y="537"/>
                  <a:pt x="489" y="537"/>
                </a:cubicBezTo>
                <a:cubicBezTo>
                  <a:pt x="489" y="490"/>
                  <a:pt x="489" y="490"/>
                  <a:pt x="489" y="490"/>
                </a:cubicBezTo>
                <a:cubicBezTo>
                  <a:pt x="491" y="490"/>
                  <a:pt x="491" y="490"/>
                  <a:pt x="491" y="490"/>
                </a:cubicBezTo>
                <a:cubicBezTo>
                  <a:pt x="496" y="498"/>
                  <a:pt x="502" y="505"/>
                  <a:pt x="509" y="512"/>
                </a:cubicBezTo>
                <a:cubicBezTo>
                  <a:pt x="515" y="519"/>
                  <a:pt x="523" y="525"/>
                  <a:pt x="532" y="530"/>
                </a:cubicBezTo>
                <a:cubicBezTo>
                  <a:pt x="540" y="535"/>
                  <a:pt x="550" y="539"/>
                  <a:pt x="561" y="542"/>
                </a:cubicBezTo>
                <a:cubicBezTo>
                  <a:pt x="571" y="544"/>
                  <a:pt x="583" y="546"/>
                  <a:pt x="596" y="546"/>
                </a:cubicBezTo>
                <a:cubicBezTo>
                  <a:pt x="623" y="546"/>
                  <a:pt x="647" y="541"/>
                  <a:pt x="668" y="530"/>
                </a:cubicBezTo>
                <a:cubicBezTo>
                  <a:pt x="689" y="520"/>
                  <a:pt x="707" y="506"/>
                  <a:pt x="721" y="488"/>
                </a:cubicBezTo>
                <a:cubicBezTo>
                  <a:pt x="736" y="470"/>
                  <a:pt x="747" y="448"/>
                  <a:pt x="754" y="423"/>
                </a:cubicBezTo>
                <a:cubicBezTo>
                  <a:pt x="761" y="398"/>
                  <a:pt x="765" y="371"/>
                  <a:pt x="765" y="342"/>
                </a:cubicBezTo>
                <a:moveTo>
                  <a:pt x="678" y="341"/>
                </a:moveTo>
                <a:cubicBezTo>
                  <a:pt x="678" y="363"/>
                  <a:pt x="676" y="383"/>
                  <a:pt x="671" y="400"/>
                </a:cubicBezTo>
                <a:cubicBezTo>
                  <a:pt x="667" y="418"/>
                  <a:pt x="660" y="432"/>
                  <a:pt x="651" y="443"/>
                </a:cubicBezTo>
                <a:cubicBezTo>
                  <a:pt x="643" y="455"/>
                  <a:pt x="632" y="463"/>
                  <a:pt x="620" y="469"/>
                </a:cubicBezTo>
                <a:cubicBezTo>
                  <a:pt x="607" y="475"/>
                  <a:pt x="593" y="478"/>
                  <a:pt x="578" y="478"/>
                </a:cubicBezTo>
                <a:cubicBezTo>
                  <a:pt x="565" y="478"/>
                  <a:pt x="553" y="475"/>
                  <a:pt x="542" y="470"/>
                </a:cubicBezTo>
                <a:cubicBezTo>
                  <a:pt x="531" y="466"/>
                  <a:pt x="522" y="459"/>
                  <a:pt x="514" y="450"/>
                </a:cubicBezTo>
                <a:cubicBezTo>
                  <a:pt x="506" y="442"/>
                  <a:pt x="500" y="432"/>
                  <a:pt x="495" y="421"/>
                </a:cubicBezTo>
                <a:cubicBezTo>
                  <a:pt x="491" y="410"/>
                  <a:pt x="488" y="397"/>
                  <a:pt x="488" y="384"/>
                </a:cubicBezTo>
                <a:cubicBezTo>
                  <a:pt x="488" y="336"/>
                  <a:pt x="488" y="336"/>
                  <a:pt x="488" y="336"/>
                </a:cubicBezTo>
                <a:cubicBezTo>
                  <a:pt x="488" y="319"/>
                  <a:pt x="491" y="304"/>
                  <a:pt x="496" y="291"/>
                </a:cubicBezTo>
                <a:cubicBezTo>
                  <a:pt x="500" y="278"/>
                  <a:pt x="507" y="266"/>
                  <a:pt x="516" y="257"/>
                </a:cubicBezTo>
                <a:cubicBezTo>
                  <a:pt x="524" y="247"/>
                  <a:pt x="534" y="240"/>
                  <a:pt x="546" y="234"/>
                </a:cubicBezTo>
                <a:cubicBezTo>
                  <a:pt x="558" y="229"/>
                  <a:pt x="571" y="226"/>
                  <a:pt x="586" y="226"/>
                </a:cubicBezTo>
                <a:cubicBezTo>
                  <a:pt x="601" y="226"/>
                  <a:pt x="614" y="229"/>
                  <a:pt x="625" y="234"/>
                </a:cubicBezTo>
                <a:cubicBezTo>
                  <a:pt x="636" y="240"/>
                  <a:pt x="646" y="247"/>
                  <a:pt x="654" y="257"/>
                </a:cubicBezTo>
                <a:cubicBezTo>
                  <a:pt x="662" y="267"/>
                  <a:pt x="668" y="279"/>
                  <a:pt x="672" y="293"/>
                </a:cubicBezTo>
                <a:cubicBezTo>
                  <a:pt x="676" y="307"/>
                  <a:pt x="678" y="323"/>
                  <a:pt x="678" y="341"/>
                </a:cubicBezTo>
                <a:moveTo>
                  <a:pt x="1866" y="537"/>
                </a:moveTo>
                <a:cubicBezTo>
                  <a:pt x="1866" y="2"/>
                  <a:pt x="1866" y="2"/>
                  <a:pt x="1866" y="2"/>
                </a:cubicBezTo>
                <a:cubicBezTo>
                  <a:pt x="1785" y="2"/>
                  <a:pt x="1785" y="2"/>
                  <a:pt x="1785" y="2"/>
                </a:cubicBezTo>
                <a:cubicBezTo>
                  <a:pt x="1785" y="220"/>
                  <a:pt x="1785" y="220"/>
                  <a:pt x="1785" y="220"/>
                </a:cubicBezTo>
                <a:cubicBezTo>
                  <a:pt x="1783" y="220"/>
                  <a:pt x="1783" y="220"/>
                  <a:pt x="1783" y="220"/>
                </a:cubicBezTo>
                <a:cubicBezTo>
                  <a:pt x="1779" y="213"/>
                  <a:pt x="1773" y="206"/>
                  <a:pt x="1767" y="199"/>
                </a:cubicBezTo>
                <a:cubicBezTo>
                  <a:pt x="1760" y="192"/>
                  <a:pt x="1753" y="187"/>
                  <a:pt x="1744" y="182"/>
                </a:cubicBezTo>
                <a:cubicBezTo>
                  <a:pt x="1736" y="177"/>
                  <a:pt x="1726" y="173"/>
                  <a:pt x="1716" y="171"/>
                </a:cubicBezTo>
                <a:cubicBezTo>
                  <a:pt x="1705" y="168"/>
                  <a:pt x="1693" y="167"/>
                  <a:pt x="1681" y="167"/>
                </a:cubicBezTo>
                <a:cubicBezTo>
                  <a:pt x="1656" y="167"/>
                  <a:pt x="1633" y="171"/>
                  <a:pt x="1613" y="181"/>
                </a:cubicBezTo>
                <a:cubicBezTo>
                  <a:pt x="1592" y="190"/>
                  <a:pt x="1575" y="203"/>
                  <a:pt x="1561" y="220"/>
                </a:cubicBezTo>
                <a:cubicBezTo>
                  <a:pt x="1546" y="238"/>
                  <a:pt x="1535" y="259"/>
                  <a:pt x="1527" y="283"/>
                </a:cubicBezTo>
                <a:cubicBezTo>
                  <a:pt x="1519" y="308"/>
                  <a:pt x="1515" y="335"/>
                  <a:pt x="1515" y="365"/>
                </a:cubicBezTo>
                <a:cubicBezTo>
                  <a:pt x="1515" y="394"/>
                  <a:pt x="1519" y="420"/>
                  <a:pt x="1526" y="443"/>
                </a:cubicBezTo>
                <a:cubicBezTo>
                  <a:pt x="1534" y="465"/>
                  <a:pt x="1544" y="484"/>
                  <a:pt x="1558" y="500"/>
                </a:cubicBezTo>
                <a:cubicBezTo>
                  <a:pt x="1571" y="515"/>
                  <a:pt x="1587" y="526"/>
                  <a:pt x="1605" y="534"/>
                </a:cubicBezTo>
                <a:cubicBezTo>
                  <a:pt x="1624" y="542"/>
                  <a:pt x="1643" y="546"/>
                  <a:pt x="1665" y="546"/>
                </a:cubicBezTo>
                <a:cubicBezTo>
                  <a:pt x="1679" y="546"/>
                  <a:pt x="1693" y="544"/>
                  <a:pt x="1705" y="541"/>
                </a:cubicBezTo>
                <a:cubicBezTo>
                  <a:pt x="1717" y="538"/>
                  <a:pt x="1728" y="533"/>
                  <a:pt x="1737" y="528"/>
                </a:cubicBezTo>
                <a:cubicBezTo>
                  <a:pt x="1747" y="522"/>
                  <a:pt x="1756" y="515"/>
                  <a:pt x="1763" y="507"/>
                </a:cubicBezTo>
                <a:cubicBezTo>
                  <a:pt x="1771" y="499"/>
                  <a:pt x="1778" y="490"/>
                  <a:pt x="1783" y="480"/>
                </a:cubicBezTo>
                <a:cubicBezTo>
                  <a:pt x="1785" y="480"/>
                  <a:pt x="1785" y="480"/>
                  <a:pt x="1785" y="480"/>
                </a:cubicBezTo>
                <a:cubicBezTo>
                  <a:pt x="1785" y="537"/>
                  <a:pt x="1785" y="537"/>
                  <a:pt x="1785" y="537"/>
                </a:cubicBezTo>
                <a:lnTo>
                  <a:pt x="1866" y="537"/>
                </a:lnTo>
                <a:close/>
                <a:moveTo>
                  <a:pt x="1786" y="366"/>
                </a:moveTo>
                <a:cubicBezTo>
                  <a:pt x="1786" y="384"/>
                  <a:pt x="1783" y="399"/>
                  <a:pt x="1778" y="413"/>
                </a:cubicBezTo>
                <a:cubicBezTo>
                  <a:pt x="1773" y="427"/>
                  <a:pt x="1767" y="439"/>
                  <a:pt x="1758" y="449"/>
                </a:cubicBezTo>
                <a:cubicBezTo>
                  <a:pt x="1750" y="458"/>
                  <a:pt x="1740" y="466"/>
                  <a:pt x="1728" y="471"/>
                </a:cubicBezTo>
                <a:cubicBezTo>
                  <a:pt x="1717" y="476"/>
                  <a:pt x="1705" y="479"/>
                  <a:pt x="1692" y="479"/>
                </a:cubicBezTo>
                <a:cubicBezTo>
                  <a:pt x="1679" y="479"/>
                  <a:pt x="1667" y="477"/>
                  <a:pt x="1656" y="472"/>
                </a:cubicBezTo>
                <a:cubicBezTo>
                  <a:pt x="1644" y="467"/>
                  <a:pt x="1635" y="460"/>
                  <a:pt x="1626" y="450"/>
                </a:cubicBezTo>
                <a:cubicBezTo>
                  <a:pt x="1618" y="440"/>
                  <a:pt x="1612" y="428"/>
                  <a:pt x="1607" y="414"/>
                </a:cubicBezTo>
                <a:cubicBezTo>
                  <a:pt x="1602" y="399"/>
                  <a:pt x="1600" y="382"/>
                  <a:pt x="1600" y="363"/>
                </a:cubicBezTo>
                <a:cubicBezTo>
                  <a:pt x="1600" y="343"/>
                  <a:pt x="1602" y="325"/>
                  <a:pt x="1606" y="309"/>
                </a:cubicBezTo>
                <a:cubicBezTo>
                  <a:pt x="1610" y="294"/>
                  <a:pt x="1616" y="280"/>
                  <a:pt x="1624" y="269"/>
                </a:cubicBezTo>
                <a:cubicBezTo>
                  <a:pt x="1632" y="257"/>
                  <a:pt x="1642" y="249"/>
                  <a:pt x="1654" y="242"/>
                </a:cubicBezTo>
                <a:cubicBezTo>
                  <a:pt x="1667" y="236"/>
                  <a:pt x="1681" y="233"/>
                  <a:pt x="1697" y="233"/>
                </a:cubicBezTo>
                <a:cubicBezTo>
                  <a:pt x="1709" y="233"/>
                  <a:pt x="1721" y="236"/>
                  <a:pt x="1732" y="241"/>
                </a:cubicBezTo>
                <a:cubicBezTo>
                  <a:pt x="1743" y="245"/>
                  <a:pt x="1752" y="252"/>
                  <a:pt x="1760" y="260"/>
                </a:cubicBezTo>
                <a:cubicBezTo>
                  <a:pt x="1768" y="269"/>
                  <a:pt x="1774" y="279"/>
                  <a:pt x="1779" y="290"/>
                </a:cubicBezTo>
                <a:cubicBezTo>
                  <a:pt x="1783" y="301"/>
                  <a:pt x="1786" y="313"/>
                  <a:pt x="1786" y="326"/>
                </a:cubicBezTo>
                <a:lnTo>
                  <a:pt x="1786" y="36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404040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712663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371038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414186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870677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77220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742498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24707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89568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14041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18256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06989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422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92327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15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69321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4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7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00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249" r:id="rId12"/>
    <p:sldLayoutId id="2147484301" r:id="rId13"/>
    <p:sldLayoutId id="2147484251" r:id="rId14"/>
    <p:sldLayoutId id="2147484252" r:id="rId15"/>
    <p:sldLayoutId id="2147484257" r:id="rId16"/>
    <p:sldLayoutId id="2147484258" r:id="rId17"/>
    <p:sldLayoutId id="2147484260" r:id="rId18"/>
    <p:sldLayoutId id="2147484299" r:id="rId19"/>
    <p:sldLayoutId id="2147484263" r:id="rId20"/>
    <p:sldLayoutId id="2147484403" r:id="rId21"/>
    <p:sldLayoutId id="2147484477" r:id="rId22"/>
    <p:sldLayoutId id="2147484478" r:id="rId2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 userDrawn="1">
          <p15:clr>
            <a:srgbClr val="C35EA4"/>
          </p15:clr>
        </p15:guide>
        <p15:guide id="17" pos="7546" userDrawn="1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 userDrawn="1">
          <p15:clr>
            <a:srgbClr val="5ACBF0"/>
          </p15:clr>
        </p15:guide>
        <p15:guide id="25" orient="horz" pos="302" userDrawn="1">
          <p15:clr>
            <a:srgbClr val="C35EA4"/>
          </p15:clr>
        </p15:guide>
        <p15:guide id="26" orient="horz" pos="4104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82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45" name="Rectangle 44"/>
              <p:cNvSpPr/>
              <p:nvPr userDrawn="1"/>
            </p:nvSpPr>
            <p:spPr bwMode="auto">
              <a:xfrm>
                <a:off x="1586734" y="4543427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G:120 B:215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/>
              <p:cNvSpPr/>
              <p:nvPr userDrawn="1"/>
            </p:nvSpPr>
            <p:spPr bwMode="auto">
              <a:xfrm>
                <a:off x="3419856" y="4543428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G:188 B:242</a:t>
                </a:r>
                <a:endPara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>
                  <a:gradFill>
                    <a:gsLst>
                      <a:gs pos="92035">
                        <a:srgbClr val="505050"/>
                      </a:gs>
                      <a:gs pos="27000">
                        <a:srgbClr val="50505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2505456" y="4543426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G:32 B:80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80 G:80 B:80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115 G:115 B:115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33" name="Rectangle 32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34" name="Rectangle 33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</a:p>
            </p:txBody>
          </p:sp>
          <p:sp>
            <p:nvSpPr>
              <p:cNvPr id="35" name="Rectangle 34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16 G:124 B:16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79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  <p:sldLayoutId id="2147484440" r:id="rId12"/>
    <p:sldLayoutId id="2147484441" r:id="rId13"/>
    <p:sldLayoutId id="2147484442" r:id="rId14"/>
    <p:sldLayoutId id="2147484443" r:id="rId15"/>
    <p:sldLayoutId id="2147484444" r:id="rId16"/>
    <p:sldLayoutId id="2147484445" r:id="rId17"/>
    <p:sldLayoutId id="2147484446" r:id="rId18"/>
    <p:sldLayoutId id="2147484447" r:id="rId19"/>
    <p:sldLayoutId id="2147484448" r:id="rId20"/>
    <p:sldLayoutId id="2147484449" r:id="rId21"/>
    <p:sldLayoutId id="2147484450" r:id="rId22"/>
    <p:sldLayoutId id="2147484451" r:id="rId23"/>
    <p:sldLayoutId id="2147484452" r:id="rId24"/>
    <p:sldLayoutId id="2147484453" r:id="rId25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43" name="Group 42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50" name="Rectangle 49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rgbClr val="0078D7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51" name="Rectangle 50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52" name="Rectangle 51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rgbClr val="D2D2D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R:210 G:210 B:210</a:t>
                </a:r>
              </a:p>
            </p:txBody>
          </p:sp>
          <p:sp>
            <p:nvSpPr>
              <p:cNvPr id="53" name="Rectangle 52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rgbClr val="00205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G:32 B:80</a:t>
                </a:r>
              </a:p>
            </p:txBody>
          </p:sp>
          <p:sp>
            <p:nvSpPr>
              <p:cNvPr id="54" name="Rectangle 53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32323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R:50 G:50 B:50</a:t>
                </a:r>
              </a:p>
            </p:txBody>
          </p:sp>
          <p:sp>
            <p:nvSpPr>
              <p:cNvPr id="55" name="Rectangle 54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R:115 G:115 B:115</a:t>
                </a:r>
              </a:p>
            </p:txBody>
          </p:sp>
        </p:grpSp>
        <p:grpSp>
          <p:nvGrpSpPr>
            <p:cNvPr id="44" name="Group 43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47" name="Rectangle 46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 noProof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48" name="Rectangle 47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R:216 G:59 B:1</a:t>
                </a:r>
              </a:p>
            </p:txBody>
          </p:sp>
          <p:sp>
            <p:nvSpPr>
              <p:cNvPr id="49" name="Rectangle 48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R:16 G:124 B:16</a:t>
                </a:r>
              </a:p>
            </p:txBody>
          </p:sp>
        </p:grpSp>
        <p:sp>
          <p:nvSpPr>
            <p:cNvPr id="45" name="TextBox 44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Main colors</a:t>
              </a:r>
            </a:p>
          </p:txBody>
        </p:sp>
        <p:sp>
          <p:nvSpPr>
            <p:cNvPr id="46" name="TextBox 45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Secondary colors (use only when necessary)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2936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  <p:sldLayoutId id="2147484467" r:id="rId12"/>
    <p:sldLayoutId id="2147484468" r:id="rId13"/>
    <p:sldLayoutId id="2147484469" r:id="rId14"/>
    <p:sldLayoutId id="2147484470" r:id="rId15"/>
    <p:sldLayoutId id="2147484471" r:id="rId16"/>
    <p:sldLayoutId id="2147484472" r:id="rId17"/>
    <p:sldLayoutId id="2147484473" r:id="rId18"/>
    <p:sldLayoutId id="2147484474" r:id="rId19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0.jp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10" Type="http://schemas.openxmlformats.org/officeDocument/2006/relationships/image" Target="../media/image17.sv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10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12.svg"/><Relationship Id="rId10" Type="http://schemas.openxmlformats.org/officeDocument/2006/relationships/image" Target="../media/image30.svg"/><Relationship Id="rId4" Type="http://schemas.openxmlformats.org/officeDocument/2006/relationships/image" Target="../media/image11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0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3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rafana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10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12.svg"/><Relationship Id="rId10" Type="http://schemas.openxmlformats.org/officeDocument/2006/relationships/image" Target="../media/image30.svg"/><Relationship Id="rId4" Type="http://schemas.openxmlformats.org/officeDocument/2006/relationships/image" Target="../media/image11.pn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0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27.png"/><Relationship Id="rId5" Type="http://schemas.openxmlformats.org/officeDocument/2006/relationships/image" Target="../media/image12.svg"/><Relationship Id="rId10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30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0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27.png"/><Relationship Id="rId5" Type="http://schemas.openxmlformats.org/officeDocument/2006/relationships/image" Target="../media/image12.svg"/><Relationship Id="rId10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5982" y="666693"/>
            <a:ext cx="11201400" cy="2297169"/>
          </a:xfrm>
        </p:spPr>
        <p:txBody>
          <a:bodyPr/>
          <a:lstStyle/>
          <a:p>
            <a:r>
              <a:rPr lang="pt-BR" sz="4400" b="1" dirty="0"/>
              <a:t>Azure </a:t>
            </a:r>
            <a:r>
              <a:rPr lang="pt-BR" sz="4400" b="1" dirty="0" err="1"/>
              <a:t>Managed</a:t>
            </a:r>
            <a:r>
              <a:rPr lang="pt-BR" sz="4400" b="1" dirty="0"/>
              <a:t> </a:t>
            </a:r>
            <a:r>
              <a:rPr lang="pt-BR" sz="4400" b="1" dirty="0" err="1"/>
              <a:t>Grafana</a:t>
            </a:r>
            <a:r>
              <a:rPr lang="pt-BR" sz="4400" b="1" dirty="0"/>
              <a:t>: monitoramento na nuvem com eficiência e flexibilidade</a:t>
            </a:r>
            <a:endParaRPr lang="pt-BR" sz="3200" dirty="0"/>
          </a:p>
        </p:txBody>
      </p:sp>
      <p:pic>
        <p:nvPicPr>
          <p:cNvPr id="13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915189BD-7EAE-4A0C-BD8E-B94BE30EF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" y="592075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FBDA6EF-1FF4-1884-E318-C9775D5221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607" y="2278062"/>
            <a:ext cx="6111478" cy="1872045"/>
          </a:xfrm>
        </p:spPr>
        <p:txBody>
          <a:bodyPr/>
          <a:lstStyle/>
          <a:p>
            <a:r>
              <a:rPr lang="en-US" sz="2800" b="1" dirty="0"/>
              <a:t>Renato </a:t>
            </a:r>
            <a:r>
              <a:rPr lang="en-US" sz="2800" b="1" dirty="0" err="1"/>
              <a:t>Groffe</a:t>
            </a:r>
            <a:endParaRPr lang="en-US" sz="2800" b="1" dirty="0"/>
          </a:p>
          <a:p>
            <a:r>
              <a:rPr lang="en-US" sz="2400" dirty="0"/>
              <a:t>Microsoft MVP, Docker Captain, MTAC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renatogroffe</a:t>
            </a:r>
            <a:br>
              <a:rPr lang="en-US" sz="2400" dirty="0"/>
            </a:br>
            <a:r>
              <a:rPr lang="en-US" sz="2400" dirty="0"/>
              <a:t>renatogroffe.medium.com</a:t>
            </a:r>
          </a:p>
          <a:p>
            <a:endParaRPr lang="en-US" sz="2400" dirty="0"/>
          </a:p>
          <a:p>
            <a:r>
              <a:rPr lang="en-US" sz="2800" b="1" dirty="0"/>
              <a:t>Milton Camara Gomes</a:t>
            </a:r>
          </a:p>
          <a:p>
            <a:r>
              <a:rPr lang="en-US" sz="2400" dirty="0"/>
              <a:t>Microsoft MVP, MTAC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miltoncamara</a:t>
            </a:r>
            <a:endParaRPr lang="en-US" sz="2400" dirty="0"/>
          </a:p>
          <a:p>
            <a:r>
              <a:rPr lang="en-US" sz="2400" dirty="0"/>
              <a:t>youtube.com/</a:t>
            </a:r>
            <a:r>
              <a:rPr lang="en-US" sz="2400" dirty="0" err="1"/>
              <a:t>azurenapratica</a:t>
            </a:r>
            <a:br>
              <a:rPr lang="en-US" sz="2400" dirty="0"/>
            </a:br>
            <a:endParaRPr lang="en-US" sz="2400" dirty="0"/>
          </a:p>
          <a:p>
            <a:br>
              <a:rPr lang="en-US" sz="2400" dirty="0"/>
            </a:br>
            <a:endParaRPr lang="en-US" sz="2400" dirty="0"/>
          </a:p>
        </p:txBody>
      </p:sp>
      <p:pic>
        <p:nvPicPr>
          <p:cNvPr id="10" name="Imagem 9" descr="Desenho de uma pessoa&#10;&#10;Descrição gerada automaticamente com confiança baixa">
            <a:extLst>
              <a:ext uri="{FF2B5EF4-FFF2-40B4-BE49-F238E27FC236}">
                <a16:creationId xmlns:a16="http://schemas.microsoft.com/office/drawing/2014/main" id="{162932DE-A0ED-97ED-DD85-51CE4540B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4856" y="3454018"/>
            <a:ext cx="2064489" cy="206448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0305999F-CAD5-845F-30A2-998A814AAE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2256" y="1860906"/>
            <a:ext cx="2837657" cy="2837657"/>
          </a:xfrm>
          <a:prstGeom prst="rect">
            <a:avLst/>
          </a:prstGeom>
        </p:spPr>
      </p:pic>
      <p:pic>
        <p:nvPicPr>
          <p:cNvPr id="2" name="Imagem 1" descr="Uma imagem contendo desenho&#10;&#10;Descrição gerada automaticamente">
            <a:extLst>
              <a:ext uri="{FF2B5EF4-FFF2-40B4-BE49-F238E27FC236}">
                <a16:creationId xmlns:a16="http://schemas.microsoft.com/office/drawing/2014/main" id="{28312FFF-D8B2-81C5-2657-A5C2CF3133A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0590" r="25492"/>
          <a:stretch/>
        </p:blipFill>
        <p:spPr>
          <a:xfrm>
            <a:off x="2555081" y="5946344"/>
            <a:ext cx="2405044" cy="785896"/>
          </a:xfrm>
          <a:prstGeom prst="rect">
            <a:avLst/>
          </a:prstGeom>
        </p:spPr>
      </p:pic>
      <p:pic>
        <p:nvPicPr>
          <p:cNvPr id="3" name="Imagem 2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55DD0707-CD54-367C-7AB8-9E606BBC77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2717" y="5757844"/>
            <a:ext cx="1154100" cy="1154100"/>
          </a:xfrm>
          <a:prstGeom prst="rect">
            <a:avLst/>
          </a:prstGeom>
        </p:spPr>
      </p:pic>
      <p:pic>
        <p:nvPicPr>
          <p:cNvPr id="5" name="Imagem 4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2B56B9CE-9C39-037C-DC6A-2D5C4DA8AB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4227" y="5527652"/>
            <a:ext cx="1314450" cy="131445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C752A70B-62E7-D85B-9F3C-72E93FDA03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77877" y="5642769"/>
            <a:ext cx="1443826" cy="1435893"/>
          </a:xfrm>
          <a:prstGeom prst="rect">
            <a:avLst/>
          </a:prstGeom>
        </p:spPr>
      </p:pic>
      <p:pic>
        <p:nvPicPr>
          <p:cNvPr id="7" name="Imagem 6" descr="Uma imagem contendo objeto, relógio, placa, monitor&#10;&#10;Descrição gerada automaticamente">
            <a:extLst>
              <a:ext uri="{FF2B5EF4-FFF2-40B4-BE49-F238E27FC236}">
                <a16:creationId xmlns:a16="http://schemas.microsoft.com/office/drawing/2014/main" id="{3C1D38D7-8C12-E208-1769-8D8485FA65B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56561" y="6010530"/>
            <a:ext cx="2052933" cy="64872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DDCA989-65F6-02F2-FF6A-B7914D54F51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11673" y="5962654"/>
            <a:ext cx="1267961" cy="79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559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058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Captain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Grafana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Champion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APISEC U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Ambassador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Multi-Plataform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Technical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Audience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(MTAC)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Renato Groffe</a:t>
            </a:r>
          </a:p>
        </p:txBody>
      </p:sp>
      <p:sp>
        <p:nvSpPr>
          <p:cNvPr id="17" name="Content Placeholder 1"/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16374F2-EFE7-4775-AD13-95766DD4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113" y="472111"/>
            <a:ext cx="2064045" cy="2290202"/>
          </a:xfrm>
          <a:prstGeom prst="rect">
            <a:avLst/>
          </a:prstGeom>
        </p:spPr>
      </p:pic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942EB67-E85D-42B0-8C54-899E7CBF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23" y="503282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A06A382F-CB5E-49D3-A714-BF89782F3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290" y="4708755"/>
            <a:ext cx="1403451" cy="140345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C07B8D-D885-A29F-54DF-949F73653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1898" y="4646564"/>
            <a:ext cx="1600799" cy="1600799"/>
          </a:xfrm>
          <a:prstGeom prst="rect">
            <a:avLst/>
          </a:prstGeom>
        </p:spPr>
      </p:pic>
      <p:pic>
        <p:nvPicPr>
          <p:cNvPr id="7" name="Imagem 6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CAB713EA-9E3B-51D0-845C-81E073A9D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1895" y="4389477"/>
            <a:ext cx="1699365" cy="1699365"/>
          </a:xfrm>
          <a:prstGeom prst="rect">
            <a:avLst/>
          </a:prstGeom>
        </p:spPr>
      </p:pic>
      <p:pic>
        <p:nvPicPr>
          <p:cNvPr id="4" name="Imagem 3" descr="Código QR&#10;&#10;O conteúdo gerado por IA pode estar incorreto.">
            <a:extLst>
              <a:ext uri="{FF2B5EF4-FFF2-40B4-BE49-F238E27FC236}">
                <a16:creationId xmlns:a16="http://schemas.microsoft.com/office/drawing/2014/main" id="{D58C7CEE-9AAE-6B90-9DC4-80CD1A771B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8736" y="3291903"/>
            <a:ext cx="2768301" cy="2768301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DF927417-7C4B-9284-BD5A-0A0DF27317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8221" y="4433730"/>
            <a:ext cx="2057400" cy="20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6E6EC-1BE6-EA1B-3E7B-6B1A351F6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71E3E6-45C7-C6B2-62BE-DFC2119C5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16" y="1058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Valuable Professional (MVP)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Head de Engenharia – Robbu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7CEDAB-9C50-B264-2537-71B7BBEF0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Milton Câmara</a:t>
            </a:r>
          </a:p>
        </p:txBody>
      </p:sp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477AD96F-810B-FC4E-C575-D81C8C79F828}"/>
              </a:ext>
            </a:extLst>
          </p:cNvPr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DAF4573F-A6D4-9BE6-4B0F-3D5B2BBAE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7" y="5315461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m do perfil">
            <a:extLst>
              <a:ext uri="{FF2B5EF4-FFF2-40B4-BE49-F238E27FC236}">
                <a16:creationId xmlns:a16="http://schemas.microsoft.com/office/drawing/2014/main" id="{586564DB-6B03-0AAF-4ACC-92538617C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1037" y="623814"/>
            <a:ext cx="2209800" cy="2209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433B3E-37AE-58E8-A6AD-BDC718C22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3499" y="4374014"/>
            <a:ext cx="1917338" cy="188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9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439861"/>
            <a:ext cx="11426521" cy="4980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dirty="0">
                <a:solidFill>
                  <a:schemeClr val="tx1">
                    <a:lumMod val="50000"/>
                  </a:schemeClr>
                </a:solidFill>
              </a:rPr>
              <a:t>Eventos online e gratuitos</a:t>
            </a:r>
            <a:br>
              <a:rPr lang="pt-BR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pt-BR" sz="3200" b="1" u="sng" dirty="0">
                <a:solidFill>
                  <a:schemeClr val="tx1">
                    <a:lumMod val="50000"/>
                  </a:schemeClr>
                </a:solidFill>
              </a:rPr>
              <a:t>https://www.meetup.com/dotnet-Sao-Paulo/</a:t>
            </a:r>
          </a:p>
          <a:p>
            <a:pPr marL="0" indent="0">
              <a:lnSpc>
                <a:spcPct val="100000"/>
              </a:lnSpc>
              <a:buNone/>
            </a:pPr>
            <a:endParaRPr lang="pt-BR" sz="3200" b="1" u="sng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10820400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Participe de nossas iniciativas gratuitas</a:t>
            </a:r>
          </a:p>
        </p:txBody>
      </p:sp>
      <p:pic>
        <p:nvPicPr>
          <p:cNvPr id="5" name="Imagem 4" descr="Código QR&#10;&#10;Descrição gerada automaticamente">
            <a:extLst>
              <a:ext uri="{FF2B5EF4-FFF2-40B4-BE49-F238E27FC236}">
                <a16:creationId xmlns:a16="http://schemas.microsoft.com/office/drawing/2014/main" id="{FB8779B3-73CC-6E2D-176A-FE27BD34E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137" y="3497262"/>
            <a:ext cx="2362200" cy="23622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BED8B22-7603-A627-207A-9628AA026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837" y="1363662"/>
            <a:ext cx="2113260" cy="132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3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1437" y="3783798"/>
            <a:ext cx="9982201" cy="503215"/>
          </a:xfrm>
          <a:solidFill>
            <a:schemeClr val="tx1">
              <a:lumMod val="50000"/>
            </a:schemeClr>
          </a:solidFill>
        </p:spPr>
        <p:txBody>
          <a:bodyPr/>
          <a:lstStyle/>
          <a:p>
            <a:pPr algn="ctr"/>
            <a:r>
              <a:rPr lang="pt-BR" sz="2300" b="1" dirty="0">
                <a:solidFill>
                  <a:schemeClr val="bg1"/>
                </a:solidFill>
              </a:rPr>
              <a:t>github.com/</a:t>
            </a:r>
            <a:r>
              <a:rPr lang="pt-BR" sz="2300" b="1" dirty="0" err="1">
                <a:solidFill>
                  <a:schemeClr val="bg1"/>
                </a:solidFill>
              </a:rPr>
              <a:t>renatogroffe</a:t>
            </a:r>
            <a:r>
              <a:rPr lang="pt-BR" sz="2300" b="1" dirty="0">
                <a:solidFill>
                  <a:schemeClr val="bg1"/>
                </a:solidFill>
              </a:rPr>
              <a:t>/azure-managed-grafana_grafana-weekend-2026-03</a:t>
            </a:r>
          </a:p>
        </p:txBody>
      </p:sp>
      <p:pic>
        <p:nvPicPr>
          <p:cNvPr id="5" name="Imagem 4" descr="Desenho de uma pessoa&#10;&#10;Descrição gerada automaticamente com confiança baixa">
            <a:extLst>
              <a:ext uri="{FF2B5EF4-FFF2-40B4-BE49-F238E27FC236}">
                <a16:creationId xmlns:a16="http://schemas.microsoft.com/office/drawing/2014/main" id="{F3EEB470-9C8E-1CB8-1C39-DB3A907A0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837" y="4535414"/>
            <a:ext cx="1828800" cy="18288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2B8F407-C694-1B1D-A226-E8EA03A2E4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9237" y="4373863"/>
            <a:ext cx="2064489" cy="2064489"/>
          </a:xfrm>
          <a:prstGeom prst="rect">
            <a:avLst/>
          </a:prstGeom>
        </p:spPr>
      </p:pic>
      <p:sp>
        <p:nvSpPr>
          <p:cNvPr id="4" name="Nosso Propsito">
            <a:extLst>
              <a:ext uri="{FF2B5EF4-FFF2-40B4-BE49-F238E27FC236}">
                <a16:creationId xmlns:a16="http://schemas.microsoft.com/office/drawing/2014/main" id="{570D0A61-387A-4824-5844-F03739A83EAF}"/>
              </a:ext>
            </a:extLst>
          </p:cNvPr>
          <p:cNvSpPr/>
          <p:nvPr/>
        </p:nvSpPr>
        <p:spPr>
          <a:xfrm>
            <a:off x="7970837" y="1887075"/>
            <a:ext cx="5100108" cy="152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1667"/>
              </a:lnSpc>
              <a:spcAft>
                <a:spcPts val="11004"/>
              </a:spcAft>
            </a:pP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</a:t>
            </a:r>
            <a:b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</a:b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star 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36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92DE12B-8975-41EB-457E-DE307A2DD0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0155" y="1054015"/>
            <a:ext cx="2544763" cy="2544763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335CCDE-92A4-4916-30D5-2754940A8F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56337" y="4721373"/>
            <a:ext cx="1462882" cy="144288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B7FEEAAD-E610-F6A0-4D78-6CC28858F7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95135" y="4652440"/>
            <a:ext cx="1640582" cy="159065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70571793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439862"/>
            <a:ext cx="11810999" cy="2511457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Monitoramento e </a:t>
            </a:r>
            <a:r>
              <a:rPr lang="pt-BR" sz="3600" dirty="0" err="1">
                <a:solidFill>
                  <a:srgbClr val="494949"/>
                </a:solidFill>
              </a:rPr>
              <a:t>Observabilidade</a:t>
            </a: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rgbClr val="494949"/>
                </a:solidFill>
              </a:rPr>
              <a:t>Grafana</a:t>
            </a:r>
            <a:r>
              <a:rPr lang="pt-BR" sz="3600" dirty="0">
                <a:solidFill>
                  <a:srgbClr val="494949"/>
                </a:solidFill>
              </a:rPr>
              <a:t>: uma visão geral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Azure </a:t>
            </a:r>
            <a:r>
              <a:rPr lang="pt-BR" sz="3600" dirty="0" err="1">
                <a:solidFill>
                  <a:srgbClr val="494949"/>
                </a:solidFill>
              </a:rPr>
              <a:t>Managed</a:t>
            </a:r>
            <a:r>
              <a:rPr lang="pt-BR" sz="3600" dirty="0">
                <a:solidFill>
                  <a:srgbClr val="494949"/>
                </a:solidFill>
              </a:rPr>
              <a:t> </a:t>
            </a:r>
            <a:r>
              <a:rPr lang="pt-BR" sz="3600" dirty="0" err="1">
                <a:solidFill>
                  <a:srgbClr val="494949"/>
                </a:solidFill>
              </a:rPr>
              <a:t>Grafana</a:t>
            </a: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Exemplos práticos</a:t>
            </a:r>
          </a:p>
        </p:txBody>
      </p:sp>
      <p:pic>
        <p:nvPicPr>
          <p:cNvPr id="4" name="Imagem 3" descr="Desenho de uma pessoa&#10;&#10;Descrição gerada automaticamente com confiança baixa">
            <a:extLst>
              <a:ext uri="{FF2B5EF4-FFF2-40B4-BE49-F238E27FC236}">
                <a16:creationId xmlns:a16="http://schemas.microsoft.com/office/drawing/2014/main" id="{580B782B-08CC-9149-EB34-301C58AA8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837" y="4535414"/>
            <a:ext cx="1828800" cy="1828800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9FD82B48-DD04-B25A-E0AC-89F7F940A8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9237" y="4373863"/>
            <a:ext cx="2064489" cy="2064489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0D3F136-A24E-4FA0-A0B3-2CC3EE9555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6337" y="4721373"/>
            <a:ext cx="1462882" cy="144288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FE3D7A88-2904-13A0-474D-233157F5E1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95135" y="4652440"/>
            <a:ext cx="1640582" cy="159065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93939069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Monitoramento e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Observabilidade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 na nuvem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6934198" cy="4616648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Acompanhamento de </a:t>
            </a:r>
            <a:r>
              <a:rPr lang="pt-BR" sz="3600" b="1" dirty="0">
                <a:solidFill>
                  <a:srgbClr val="494949"/>
                </a:solidFill>
              </a:rPr>
              <a:t>problemas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Análise contínua visando </a:t>
            </a:r>
            <a:r>
              <a:rPr lang="pt-BR" sz="3600" b="1" dirty="0">
                <a:solidFill>
                  <a:srgbClr val="494949"/>
                </a:solidFill>
              </a:rPr>
              <a:t>oportunidades de melhorias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rgbClr val="494949"/>
                </a:solidFill>
              </a:rPr>
              <a:t>Inúmeras soluções</a:t>
            </a:r>
            <a:r>
              <a:rPr lang="pt-BR" sz="3600" dirty="0">
                <a:solidFill>
                  <a:srgbClr val="494949"/>
                </a:solidFill>
              </a:rPr>
              <a:t>, dificultando uma experiência unificada</a:t>
            </a:r>
          </a:p>
        </p:txBody>
      </p:sp>
      <p:pic>
        <p:nvPicPr>
          <p:cNvPr id="5" name="Imagem 2" descr="Faca em cima de uma superfície de madeira&#10;&#10;Descrição gerada automaticamente com confiança baixa">
            <a:extLst>
              <a:ext uri="{FF2B5EF4-FFF2-40B4-BE49-F238E27FC236}">
                <a16:creationId xmlns:a16="http://schemas.microsoft.com/office/drawing/2014/main" id="{91092217-7F51-6342-4FBD-9D2A1DB32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437" y="2430462"/>
            <a:ext cx="3778044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399537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E90F5-8F44-7EB8-1204-42EA66393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FED1F1-D73D-40A4-74FD-42E68B15A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Pilares da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Observabilidade</a:t>
            </a:r>
            <a:endParaRPr lang="pt-BR" sz="44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4E9B6C-3E76-4DC2-6B37-848F588E40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008034" cy="312085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rgbClr val="494949"/>
                </a:solidFill>
              </a:rPr>
              <a:t>Logs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rgbClr val="494949"/>
                </a:solidFill>
              </a:rPr>
              <a:t>Métricas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rgbClr val="494949"/>
                </a:solidFill>
              </a:rPr>
              <a:t>Traces (Rastreamento)</a:t>
            </a:r>
          </a:p>
        </p:txBody>
      </p:sp>
      <p:pic>
        <p:nvPicPr>
          <p:cNvPr id="4" name="Imagem 2" descr="Faca em cima de uma superfície de madeira&#10;&#10;Descrição gerada automaticamente com confiança baixa">
            <a:extLst>
              <a:ext uri="{FF2B5EF4-FFF2-40B4-BE49-F238E27FC236}">
                <a16:creationId xmlns:a16="http://schemas.microsoft.com/office/drawing/2014/main" id="{4E3BCB9D-5C29-B222-B4A6-0960D04FD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437" y="2430462"/>
            <a:ext cx="3778044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550170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Grafana: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211262"/>
            <a:ext cx="8379634" cy="4825937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1" dirty="0">
                <a:solidFill>
                  <a:srgbClr val="494949"/>
                </a:solidFill>
              </a:rPr>
              <a:t>Monitoramento</a:t>
            </a:r>
            <a:r>
              <a:rPr lang="pt-BR" sz="2900" dirty="0">
                <a:solidFill>
                  <a:srgbClr val="494949"/>
                </a:solidFill>
              </a:rPr>
              <a:t> e </a:t>
            </a:r>
            <a:r>
              <a:rPr lang="pt-BR" sz="2900" b="1" dirty="0" err="1">
                <a:solidFill>
                  <a:srgbClr val="494949"/>
                </a:solidFill>
              </a:rPr>
              <a:t>observabilidade</a:t>
            </a:r>
            <a:r>
              <a:rPr lang="pt-BR" sz="2900" dirty="0">
                <a:solidFill>
                  <a:srgbClr val="494949"/>
                </a:solidFill>
              </a:rPr>
              <a:t> de aplicações e infraestrutura</a:t>
            </a:r>
            <a:br>
              <a:rPr lang="pt-BR" sz="2900" b="1" dirty="0">
                <a:solidFill>
                  <a:srgbClr val="494949"/>
                </a:solidFill>
              </a:rPr>
            </a:br>
            <a:endParaRPr lang="pt-BR" sz="29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1" dirty="0">
                <a:solidFill>
                  <a:srgbClr val="494949"/>
                </a:solidFill>
              </a:rPr>
              <a:t>Dashboards</a:t>
            </a:r>
            <a:r>
              <a:rPr lang="pt-BR" sz="2900" dirty="0">
                <a:solidFill>
                  <a:srgbClr val="494949"/>
                </a:solidFill>
              </a:rPr>
              <a:t> para visualização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9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1" dirty="0">
                <a:solidFill>
                  <a:srgbClr val="494949"/>
                </a:solidFill>
              </a:rPr>
              <a:t>Alertas de monitoramento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9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1" dirty="0">
                <a:solidFill>
                  <a:srgbClr val="494949"/>
                </a:solidFill>
              </a:rPr>
              <a:t>Open </a:t>
            </a:r>
            <a:r>
              <a:rPr lang="pt-BR" sz="2900" b="1" dirty="0" err="1">
                <a:solidFill>
                  <a:srgbClr val="494949"/>
                </a:solidFill>
              </a:rPr>
              <a:t>source</a:t>
            </a:r>
            <a:endParaRPr lang="pt-BR" sz="29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9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494949"/>
                </a:solidFill>
              </a:rPr>
              <a:t>Site: </a:t>
            </a:r>
            <a:r>
              <a:rPr lang="pt-BR" sz="2900" dirty="0">
                <a:solidFill>
                  <a:srgbClr val="494949"/>
                </a:solidFill>
                <a:hlinkClick r:id="rId3"/>
              </a:rPr>
              <a:t>https://grafana.com/</a:t>
            </a:r>
            <a:endParaRPr lang="pt-BR" sz="2900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C2199B3-487D-DB28-0D24-9C4B29758B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9037" y="2063749"/>
            <a:ext cx="2757057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8179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Grafana: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8379634" cy="439504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Flexibilidade, com suporte a diferentes tecnologias/fontes de dados </a:t>
            </a:r>
            <a:r>
              <a:rPr lang="pt-BR" sz="3600" b="1" dirty="0">
                <a:solidFill>
                  <a:srgbClr val="494949"/>
                </a:solidFill>
              </a:rPr>
              <a:t>(Data </a:t>
            </a:r>
            <a:r>
              <a:rPr lang="pt-BR" sz="3600" b="1" dirty="0" err="1">
                <a:solidFill>
                  <a:srgbClr val="494949"/>
                </a:solidFill>
              </a:rPr>
              <a:t>Sources</a:t>
            </a:r>
            <a:r>
              <a:rPr lang="pt-BR" sz="3600" b="1" dirty="0">
                <a:solidFill>
                  <a:srgbClr val="494949"/>
                </a:solidFill>
              </a:rPr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Exemplos de possíveis Data </a:t>
            </a:r>
            <a:r>
              <a:rPr lang="pt-BR" sz="3600" dirty="0" err="1">
                <a:solidFill>
                  <a:srgbClr val="494949"/>
                </a:solidFill>
              </a:rPr>
              <a:t>Sources</a:t>
            </a:r>
            <a:r>
              <a:rPr lang="pt-BR" sz="3600" dirty="0">
                <a:solidFill>
                  <a:srgbClr val="494949"/>
                </a:solidFill>
              </a:rPr>
              <a:t>: </a:t>
            </a:r>
            <a:r>
              <a:rPr lang="pt-BR" sz="3600" b="1" dirty="0">
                <a:solidFill>
                  <a:srgbClr val="494949"/>
                </a:solidFill>
              </a:rPr>
              <a:t>Azure Monitor, AWS </a:t>
            </a:r>
            <a:r>
              <a:rPr lang="pt-BR" sz="3600" b="1" dirty="0" err="1">
                <a:solidFill>
                  <a:srgbClr val="494949"/>
                </a:solidFill>
              </a:rPr>
              <a:t>CloudWatch</a:t>
            </a:r>
            <a:r>
              <a:rPr lang="pt-BR" sz="3600" b="1" dirty="0">
                <a:solidFill>
                  <a:srgbClr val="494949"/>
                </a:solidFill>
              </a:rPr>
              <a:t>, </a:t>
            </a:r>
            <a:r>
              <a:rPr lang="pt-BR" sz="3600" b="1" dirty="0" err="1">
                <a:solidFill>
                  <a:srgbClr val="494949"/>
                </a:solidFill>
              </a:rPr>
              <a:t>Prometheus</a:t>
            </a:r>
            <a:r>
              <a:rPr lang="pt-BR" sz="3600" b="1" dirty="0">
                <a:solidFill>
                  <a:srgbClr val="494949"/>
                </a:solidFill>
              </a:rPr>
              <a:t>, SQL Server, PostgreSQL, Oracle...</a:t>
            </a:r>
            <a:endParaRPr lang="pt-BR" sz="3600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C2199B3-487D-DB28-0D24-9C4B29758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09037" y="2063749"/>
            <a:ext cx="2757057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2124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Grafana: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8379634" cy="594624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Visualização unificada </a:t>
            </a:r>
            <a:r>
              <a:rPr lang="pt-BR" sz="3200" dirty="0">
                <a:solidFill>
                  <a:srgbClr val="494949"/>
                </a:solidFill>
              </a:rPr>
              <a:t>de múltiplas fontes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Centenas de </a:t>
            </a:r>
            <a:r>
              <a:rPr lang="pt-BR" sz="3200" b="1" dirty="0">
                <a:solidFill>
                  <a:srgbClr val="494949"/>
                </a:solidFill>
              </a:rPr>
              <a:t>dashboards pré-definidos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Customização de dashboards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Facilidade de uso</a:t>
            </a:r>
            <a:r>
              <a:rPr lang="pt-BR" sz="3200" dirty="0">
                <a:solidFill>
                  <a:srgbClr val="494949"/>
                </a:solidFill>
              </a:rPr>
              <a:t>, com uma interface intuitiva e amigável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C2199B3-487D-DB28-0D24-9C4B29758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09037" y="2063749"/>
            <a:ext cx="2757057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97996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E1358-1CC9-967F-15B0-D988A240C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21A7F-41C9-CD21-61CE-1828FBE37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Stack Grafana: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49BA72-23C2-3170-3FB2-6DCD2A302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18" y="1212849"/>
            <a:ext cx="11476038" cy="519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913334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5AB28-2F6D-4A1A-910F-DADBF3B11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1535C-90CC-B442-C9EE-29C915A48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Integração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Azure + Grafana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0" name="Imagem 9" descr="Diagrama&#10;&#10;Descrição gerada automaticamente">
            <a:extLst>
              <a:ext uri="{FF2B5EF4-FFF2-40B4-BE49-F238E27FC236}">
                <a16:creationId xmlns:a16="http://schemas.microsoft.com/office/drawing/2014/main" id="{3EB21A3E-A5AB-4C63-AD5C-DCE883275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37" y="1212849"/>
            <a:ext cx="9086850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86337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8BC89-B02D-5BFD-CDAF-357FE6835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E07C60-B6A0-BA8F-A182-18C37112F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Azure Managed Grafana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1FFB3E-3200-6157-BA9E-C3DB409A6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8379634" cy="5226046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rgbClr val="494949"/>
                </a:solidFill>
              </a:rPr>
              <a:t>Serviço gerenciado</a:t>
            </a:r>
            <a:r>
              <a:rPr lang="pt-BR" sz="3600" dirty="0">
                <a:solidFill>
                  <a:srgbClr val="494949"/>
                </a:solidFill>
              </a:rPr>
              <a:t> na nuvem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Segurança integrada com o </a:t>
            </a:r>
            <a:r>
              <a:rPr lang="pt-BR" sz="3600" b="1" dirty="0">
                <a:solidFill>
                  <a:srgbClr val="494949"/>
                </a:solidFill>
              </a:rPr>
              <a:t>Microsoft Entra ID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Otimizações integrando dashboards a recursos como </a:t>
            </a:r>
            <a:r>
              <a:rPr lang="pt-BR" sz="3600" b="1" dirty="0">
                <a:solidFill>
                  <a:srgbClr val="494949"/>
                </a:solidFill>
              </a:rPr>
              <a:t>Azure Monitor</a:t>
            </a:r>
            <a:r>
              <a:rPr lang="pt-BR" sz="3600" dirty="0">
                <a:solidFill>
                  <a:srgbClr val="494949"/>
                </a:solidFill>
              </a:rPr>
              <a:t>, </a:t>
            </a:r>
            <a:r>
              <a:rPr lang="pt-BR" sz="3600" b="1" dirty="0">
                <a:solidFill>
                  <a:srgbClr val="494949"/>
                </a:solidFill>
              </a:rPr>
              <a:t>Log </a:t>
            </a:r>
            <a:r>
              <a:rPr lang="pt-BR" sz="3600" b="1" dirty="0" err="1">
                <a:solidFill>
                  <a:srgbClr val="494949"/>
                </a:solidFill>
              </a:rPr>
              <a:t>Analytics</a:t>
            </a:r>
            <a:r>
              <a:rPr lang="pt-BR" sz="3600" dirty="0">
                <a:solidFill>
                  <a:srgbClr val="494949"/>
                </a:solidFill>
              </a:rPr>
              <a:t>, </a:t>
            </a:r>
            <a:r>
              <a:rPr lang="pt-BR" sz="3600" b="1" dirty="0" err="1">
                <a:solidFill>
                  <a:srgbClr val="494949"/>
                </a:solidFill>
              </a:rPr>
              <a:t>Application</a:t>
            </a:r>
            <a:r>
              <a:rPr lang="pt-BR" sz="3600" b="1" dirty="0">
                <a:solidFill>
                  <a:srgbClr val="494949"/>
                </a:solidFill>
              </a:rPr>
              <a:t> Insights</a:t>
            </a:r>
            <a:r>
              <a:rPr lang="pt-BR" sz="3600" dirty="0">
                <a:solidFill>
                  <a:srgbClr val="494949"/>
                </a:solidFill>
              </a:rPr>
              <a:t>...</a:t>
            </a:r>
            <a:endParaRPr lang="pt-BR" sz="36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CA8EE1EF-5B7E-E1CC-9F64-771EE8923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66909" y="1439862"/>
            <a:ext cx="39624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26709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3164C-10D0-7970-DF50-6AF218169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A6483-C370-A8DF-DB08-79472697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Azure Managed Grafana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923A3E-7B05-8A71-263A-E65E8F3E37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8379634" cy="555228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Pode </a:t>
            </a:r>
            <a:r>
              <a:rPr lang="pt-BR" sz="3200" b="1" dirty="0">
                <a:solidFill>
                  <a:srgbClr val="494949"/>
                </a:solidFill>
              </a:rPr>
              <a:t>ir além das capacidades de serviços baseados no Azure Monitor</a:t>
            </a:r>
            <a:r>
              <a:rPr lang="pt-BR" sz="3200" dirty="0">
                <a:solidFill>
                  <a:srgbClr val="494949"/>
                </a:solidFill>
              </a:rPr>
              <a:t>, através do uso de </a:t>
            </a:r>
            <a:r>
              <a:rPr lang="pt-BR" sz="3200" b="1" dirty="0">
                <a:solidFill>
                  <a:srgbClr val="494949"/>
                </a:solidFill>
              </a:rPr>
              <a:t>dashboards mais específicos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Possibilidade de </a:t>
            </a:r>
            <a:r>
              <a:rPr lang="pt-BR" sz="3200" b="1" dirty="0">
                <a:solidFill>
                  <a:srgbClr val="494949"/>
                </a:solidFill>
              </a:rPr>
              <a:t>uso de dashboards desenvolvidos pela comunidade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Fácil Integração com </a:t>
            </a:r>
            <a:r>
              <a:rPr lang="pt-BR" sz="3200" b="1" dirty="0" err="1">
                <a:solidFill>
                  <a:srgbClr val="494949"/>
                </a:solidFill>
              </a:rPr>
              <a:t>Prometheus</a:t>
            </a:r>
            <a:r>
              <a:rPr lang="pt-BR" sz="3200" dirty="0">
                <a:solidFill>
                  <a:srgbClr val="494949"/>
                </a:solidFill>
              </a:rPr>
              <a:t>, muito útil em cenários envolvendo </a:t>
            </a:r>
            <a:r>
              <a:rPr lang="pt-BR" sz="3200" b="1" dirty="0">
                <a:solidFill>
                  <a:srgbClr val="494949"/>
                </a:solidFill>
              </a:rPr>
              <a:t>containers</a:t>
            </a:r>
            <a:r>
              <a:rPr lang="pt-BR" sz="3200" dirty="0">
                <a:solidFill>
                  <a:srgbClr val="494949"/>
                </a:solidFill>
              </a:rPr>
              <a:t> e </a:t>
            </a:r>
            <a:r>
              <a:rPr lang="pt-BR" sz="3200" b="1" dirty="0">
                <a:solidFill>
                  <a:srgbClr val="494949"/>
                </a:solidFill>
              </a:rPr>
              <a:t>tecnologias cloud </a:t>
            </a:r>
            <a:r>
              <a:rPr lang="pt-BR" sz="3200" b="1" dirty="0" err="1">
                <a:solidFill>
                  <a:srgbClr val="494949"/>
                </a:solidFill>
              </a:rPr>
              <a:t>native</a:t>
            </a: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815E6A52-B5C5-92F4-6A17-D637EB0C1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66909" y="1439862"/>
            <a:ext cx="39624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86709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1FA7C-0DC8-AF3F-7571-0EC90A594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F09C4-ED00-733B-6DA9-9845CE78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A13BF1-8CA6-7430-0D0B-ED7E5582CD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1437" y="3783798"/>
            <a:ext cx="9982201" cy="503215"/>
          </a:xfrm>
          <a:solidFill>
            <a:schemeClr val="tx1">
              <a:lumMod val="50000"/>
            </a:schemeClr>
          </a:solidFill>
        </p:spPr>
        <p:txBody>
          <a:bodyPr/>
          <a:lstStyle/>
          <a:p>
            <a:pPr algn="ctr"/>
            <a:r>
              <a:rPr lang="pt-BR" sz="2300" b="1" dirty="0">
                <a:solidFill>
                  <a:schemeClr val="bg1"/>
                </a:solidFill>
              </a:rPr>
              <a:t>github.com/</a:t>
            </a:r>
            <a:r>
              <a:rPr lang="pt-BR" sz="2300" b="1" dirty="0" err="1">
                <a:solidFill>
                  <a:schemeClr val="bg1"/>
                </a:solidFill>
              </a:rPr>
              <a:t>renatogroffe</a:t>
            </a:r>
            <a:r>
              <a:rPr lang="pt-BR" sz="2300" b="1" dirty="0">
                <a:solidFill>
                  <a:schemeClr val="bg1"/>
                </a:solidFill>
              </a:rPr>
              <a:t>/azure-managed-grafana_grafana-weekend-2026-03</a:t>
            </a:r>
          </a:p>
        </p:txBody>
      </p:sp>
      <p:pic>
        <p:nvPicPr>
          <p:cNvPr id="5" name="Imagem 4" descr="Desenho de uma pessoa&#10;&#10;Descrição gerada automaticamente com confiança baixa">
            <a:extLst>
              <a:ext uri="{FF2B5EF4-FFF2-40B4-BE49-F238E27FC236}">
                <a16:creationId xmlns:a16="http://schemas.microsoft.com/office/drawing/2014/main" id="{A65B1E85-7205-0B44-9967-B612FFF8F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837" y="4535414"/>
            <a:ext cx="1828800" cy="18288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684D68E5-8736-1B7C-68EB-98BC64D3B2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9237" y="4373863"/>
            <a:ext cx="2064489" cy="2064489"/>
          </a:xfrm>
          <a:prstGeom prst="rect">
            <a:avLst/>
          </a:prstGeom>
        </p:spPr>
      </p:pic>
      <p:sp>
        <p:nvSpPr>
          <p:cNvPr id="4" name="Nosso Propsito">
            <a:extLst>
              <a:ext uri="{FF2B5EF4-FFF2-40B4-BE49-F238E27FC236}">
                <a16:creationId xmlns:a16="http://schemas.microsoft.com/office/drawing/2014/main" id="{D8F6587E-24B9-1845-AB40-6F3502EEC507}"/>
              </a:ext>
            </a:extLst>
          </p:cNvPr>
          <p:cNvSpPr/>
          <p:nvPr/>
        </p:nvSpPr>
        <p:spPr>
          <a:xfrm>
            <a:off x="7970837" y="1887075"/>
            <a:ext cx="5100108" cy="152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1667"/>
              </a:lnSpc>
              <a:spcAft>
                <a:spcPts val="11004"/>
              </a:spcAft>
            </a:pP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</a:t>
            </a:r>
            <a:b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</a:b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star 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36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1D0F14C-9CE0-8E63-9A21-76287C517B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0155" y="1054015"/>
            <a:ext cx="2544763" cy="2544763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83866B8E-CC09-DCC4-B2FD-82280C031B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56337" y="4721373"/>
            <a:ext cx="1462882" cy="144288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9742F3CE-B24B-EDDD-F4FC-9458895E3B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95135" y="4652440"/>
            <a:ext cx="1640582" cy="159065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59840931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437" y="1287462"/>
            <a:ext cx="4876800" cy="2179058"/>
          </a:xfrm>
        </p:spPr>
        <p:txBody>
          <a:bodyPr/>
          <a:lstStyle/>
          <a:p>
            <a:r>
              <a:rPr lang="pt-BR" dirty="0"/>
              <a:t>EXEMPLOS PRÁTICOS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3C610A-4695-4DD0-CEAB-CE759C856D7B}"/>
              </a:ext>
            </a:extLst>
          </p:cNvPr>
          <p:cNvSpPr txBox="1">
            <a:spLocks/>
          </p:cNvSpPr>
          <p:nvPr/>
        </p:nvSpPr>
        <p:spPr>
          <a:xfrm>
            <a:off x="1417637" y="3783799"/>
            <a:ext cx="9982201" cy="528894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txBody>
          <a:bodyPr/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lang="en-US" sz="4000" kern="1200" spc="0" baseline="0" dirty="0" smtClean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lang="en-US" sz="2400" kern="1200" spc="0" baseline="0" dirty="0" smtClean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2300" b="1" dirty="0">
                <a:solidFill>
                  <a:schemeClr val="tx1"/>
                </a:solidFill>
              </a:rPr>
              <a:t>github.com/</a:t>
            </a:r>
            <a:r>
              <a:rPr lang="pt-BR" sz="2300" b="1" dirty="0" err="1">
                <a:solidFill>
                  <a:schemeClr val="tx1"/>
                </a:solidFill>
              </a:rPr>
              <a:t>renatogroffe</a:t>
            </a:r>
            <a:r>
              <a:rPr lang="pt-BR" sz="2300" b="1" dirty="0">
                <a:solidFill>
                  <a:schemeClr val="tx1"/>
                </a:solidFill>
              </a:rPr>
              <a:t>/azure-managed-grafana_grafana-weekend-2026-03</a:t>
            </a:r>
          </a:p>
        </p:txBody>
      </p:sp>
      <p:pic>
        <p:nvPicPr>
          <p:cNvPr id="2" name="Imagem 1" descr="Desenho de uma pessoa&#10;&#10;Descrição gerada automaticamente com confiança baixa">
            <a:extLst>
              <a:ext uri="{FF2B5EF4-FFF2-40B4-BE49-F238E27FC236}">
                <a16:creationId xmlns:a16="http://schemas.microsoft.com/office/drawing/2014/main" id="{AD5964AF-A7C4-E583-C5D8-CFF3F8AB0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837" y="4535414"/>
            <a:ext cx="1828800" cy="182880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63692B49-C51D-F022-8560-29EBD4892A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9237" y="4373863"/>
            <a:ext cx="2064489" cy="206448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C0990DA7-2E37-BB28-2D47-7A3B0C3235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6337" y="4721373"/>
            <a:ext cx="1462882" cy="1442889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3345C92-94E4-503F-A69C-3C7F9E2CA0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95135" y="4652440"/>
            <a:ext cx="1640582" cy="1590652"/>
          </a:xfrm>
          <a:prstGeom prst="rect">
            <a:avLst/>
          </a:prstGeom>
          <a:effectLst/>
        </p:spPr>
      </p:pic>
      <p:sp>
        <p:nvSpPr>
          <p:cNvPr id="14" name="Nosso Propsito">
            <a:extLst>
              <a:ext uri="{FF2B5EF4-FFF2-40B4-BE49-F238E27FC236}">
                <a16:creationId xmlns:a16="http://schemas.microsoft.com/office/drawing/2014/main" id="{71FEDE2D-2FD9-4C3B-2803-29C596D9A161}"/>
              </a:ext>
            </a:extLst>
          </p:cNvPr>
          <p:cNvSpPr/>
          <p:nvPr/>
        </p:nvSpPr>
        <p:spPr>
          <a:xfrm>
            <a:off x="9205119" y="1516062"/>
            <a:ext cx="3032918" cy="152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1667"/>
              </a:lnSpc>
              <a:spcAft>
                <a:spcPts val="11004"/>
              </a:spcAft>
            </a:pPr>
            <a:r>
              <a:rPr lang="pt-BR" sz="3600" dirty="0">
                <a:latin typeface="Maven Pro Black" pitchFamily="2" charset="77"/>
                <a:cs typeface="Maven Pro Regular" pitchFamily="34" charset="-120"/>
              </a:rPr>
              <a:t>Deixem um</a:t>
            </a:r>
            <a:br>
              <a:rPr lang="pt-BR" sz="3600" dirty="0">
                <a:latin typeface="Maven Pro Black" pitchFamily="2" charset="77"/>
                <a:cs typeface="Maven Pro Regular" pitchFamily="34" charset="-120"/>
              </a:rPr>
            </a:br>
            <a:r>
              <a:rPr lang="pt-BR" sz="3600" dirty="0">
                <a:latin typeface="Maven Pro Black" pitchFamily="2" charset="77"/>
                <a:cs typeface="Maven Pro Regular" pitchFamily="34" charset="-120"/>
              </a:rPr>
              <a:t>star </a:t>
            </a:r>
            <a:r>
              <a:rPr lang="pt-BR" sz="3600" dirty="0"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3600" dirty="0"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3600" dirty="0" err="1"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3600" dirty="0"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B33730CF-B9F0-6D8E-DA84-9F3C854EA6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4437" y="1054015"/>
            <a:ext cx="2544763" cy="254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2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8BD88-0616-40E6-EF17-1B5AB5474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4A8EE2DA-9205-B86B-05CC-2AA95A666CD7}"/>
              </a:ext>
            </a:extLst>
          </p:cNvPr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B7368AF8-8759-8704-D193-424B80CE9B92}"/>
                </a:ext>
              </a:extLst>
            </p:cNvPr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6C5001BC-F318-199E-0397-4359D7716965}"/>
                </a:ext>
              </a:extLst>
            </p:cNvPr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D0C1C2-66CC-2365-5A66-844450DBDD76}"/>
              </a:ext>
            </a:extLst>
          </p:cNvPr>
          <p:cNvSpPr txBox="1">
            <a:spLocks/>
          </p:cNvSpPr>
          <p:nvPr/>
        </p:nvSpPr>
        <p:spPr>
          <a:xfrm>
            <a:off x="1417637" y="3783799"/>
            <a:ext cx="9982201" cy="528894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txBody>
          <a:bodyPr/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lang="en-US" sz="4000" kern="1200" spc="0" baseline="0" dirty="0" smtClean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lang="en-US" sz="2400" kern="1200" spc="0" baseline="0" dirty="0" smtClean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2300" b="1" dirty="0">
                <a:solidFill>
                  <a:schemeClr val="tx1"/>
                </a:solidFill>
              </a:rPr>
              <a:t>github.com/</a:t>
            </a:r>
            <a:r>
              <a:rPr lang="pt-BR" sz="2300" b="1" dirty="0" err="1">
                <a:solidFill>
                  <a:schemeClr val="tx1"/>
                </a:solidFill>
              </a:rPr>
              <a:t>renatogroffe</a:t>
            </a:r>
            <a:r>
              <a:rPr lang="pt-BR" sz="2300" b="1" dirty="0">
                <a:solidFill>
                  <a:schemeClr val="tx1"/>
                </a:solidFill>
              </a:rPr>
              <a:t>/azure-managed-grafana_grafana-weekend-2026-03</a:t>
            </a:r>
          </a:p>
        </p:txBody>
      </p:sp>
      <p:pic>
        <p:nvPicPr>
          <p:cNvPr id="2" name="Imagem 1" descr="Desenho de uma pessoa&#10;&#10;Descrição gerada automaticamente com confiança baixa">
            <a:extLst>
              <a:ext uri="{FF2B5EF4-FFF2-40B4-BE49-F238E27FC236}">
                <a16:creationId xmlns:a16="http://schemas.microsoft.com/office/drawing/2014/main" id="{826C5143-3F74-C4C8-2D02-409B081BE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837" y="4535414"/>
            <a:ext cx="1828800" cy="182880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A35530F8-97BA-A289-7BB5-5828D2E71A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9237" y="4373863"/>
            <a:ext cx="2064489" cy="206448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C09B7E94-5D55-2C75-9F6A-D876729828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6337" y="4721373"/>
            <a:ext cx="1462882" cy="1442889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6F51436C-E6F6-2CDA-62FB-6DE1679B2F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95135" y="4652440"/>
            <a:ext cx="1640582" cy="1590652"/>
          </a:xfrm>
          <a:prstGeom prst="rect">
            <a:avLst/>
          </a:prstGeom>
          <a:effectLst/>
        </p:spPr>
      </p:pic>
      <p:sp>
        <p:nvSpPr>
          <p:cNvPr id="16" name="Título 3">
            <a:extLst>
              <a:ext uri="{FF2B5EF4-FFF2-40B4-BE49-F238E27FC236}">
                <a16:creationId xmlns:a16="http://schemas.microsoft.com/office/drawing/2014/main" id="{9979EF05-A383-53BD-4783-3D7D5EB16F8E}"/>
              </a:ext>
            </a:extLst>
          </p:cNvPr>
          <p:cNvSpPr txBox="1">
            <a:spLocks/>
          </p:cNvSpPr>
          <p:nvPr/>
        </p:nvSpPr>
        <p:spPr>
          <a:xfrm>
            <a:off x="1341437" y="1820862"/>
            <a:ext cx="4876800" cy="1098762"/>
          </a:xfrm>
          <a:prstGeom prst="rect">
            <a:avLst/>
          </a:prstGeom>
          <a:noFill/>
        </p:spPr>
        <p:txBody>
          <a:bodyPr vert="horz" wrap="square" lIns="146304" tIns="91440" rIns="146304" bIns="9144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7200" b="0" kern="1200" cap="none" spc="-100" baseline="0">
                <a:ln w="3175">
                  <a:noFill/>
                </a:ln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pt-BR" sz="6600" dirty="0"/>
              <a:t>OBRIGADO!</a:t>
            </a:r>
          </a:p>
        </p:txBody>
      </p:sp>
      <p:sp>
        <p:nvSpPr>
          <p:cNvPr id="17" name="Nosso Propsito">
            <a:extLst>
              <a:ext uri="{FF2B5EF4-FFF2-40B4-BE49-F238E27FC236}">
                <a16:creationId xmlns:a16="http://schemas.microsoft.com/office/drawing/2014/main" id="{A83EA13C-D078-2FC0-6C50-4474C01970F3}"/>
              </a:ext>
            </a:extLst>
          </p:cNvPr>
          <p:cNvSpPr/>
          <p:nvPr/>
        </p:nvSpPr>
        <p:spPr>
          <a:xfrm>
            <a:off x="9205119" y="1516062"/>
            <a:ext cx="3032918" cy="152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1667"/>
              </a:lnSpc>
              <a:spcAft>
                <a:spcPts val="11004"/>
              </a:spcAft>
            </a:pPr>
            <a:r>
              <a:rPr lang="pt-BR" sz="3600" dirty="0">
                <a:latin typeface="Maven Pro Black" pitchFamily="2" charset="77"/>
                <a:cs typeface="Maven Pro Regular" pitchFamily="34" charset="-120"/>
              </a:rPr>
              <a:t>Deixem um</a:t>
            </a:r>
            <a:br>
              <a:rPr lang="pt-BR" sz="3600" dirty="0">
                <a:latin typeface="Maven Pro Black" pitchFamily="2" charset="77"/>
                <a:cs typeface="Maven Pro Regular" pitchFamily="34" charset="-120"/>
              </a:rPr>
            </a:br>
            <a:r>
              <a:rPr lang="pt-BR" sz="3600" dirty="0">
                <a:latin typeface="Maven Pro Black" pitchFamily="2" charset="77"/>
                <a:cs typeface="Maven Pro Regular" pitchFamily="34" charset="-120"/>
              </a:rPr>
              <a:t>star </a:t>
            </a:r>
            <a:r>
              <a:rPr lang="pt-BR" sz="3600" dirty="0"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3600" dirty="0"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3600" dirty="0" err="1"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3600" dirty="0"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0B354430-9870-01FB-4875-8968E5CFE9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4437" y="1054015"/>
            <a:ext cx="2544763" cy="254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0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.potx" id="{61D5EBA6-A23E-492C-8A07-E4BCB14E768B}" vid="{2C5385DD-25CC-4B4A-8E83-9D91F0EF820F}"/>
    </a:ext>
  </a:extLst>
</a:theme>
</file>

<file path=ppt/theme/theme2.xml><?xml version="1.0" encoding="utf-8"?>
<a:theme xmlns:a="http://schemas.openxmlformats.org/drawingml/2006/main" name="1_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" id="{08B3FEDF-27CE-477E-A1F2-9805036CC047}" vid="{CD0BEC05-913A-4A4A-B174-12DECD18D25B}"/>
    </a:ext>
  </a:extLst>
</a:theme>
</file>

<file path=ppt/theme/theme3.xml><?xml version="1.0" encoding="utf-8"?>
<a:theme xmlns:a="http://schemas.openxmlformats.org/drawingml/2006/main" name="5-30721_Build_2016_Template_Light">
  <a:themeElements>
    <a:clrScheme name="Build 2016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78D7"/>
      </a:accent1>
      <a:accent2>
        <a:srgbClr val="002050"/>
      </a:accent2>
      <a:accent3>
        <a:srgbClr val="00BCF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2DD1E4E3-0871-45BE-BEDE-345B55444DCB}"/>
    </a:ext>
  </a:extLst>
</a:theme>
</file>

<file path=ppt/theme/theme4.xml><?xml version="1.0" encoding="utf-8"?>
<a:theme xmlns:a="http://schemas.openxmlformats.org/drawingml/2006/main" name="5-30721_Build_2016_Template_Dark">
  <a:themeElements>
    <a:clrScheme name="Build 2016 Dark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BCF2"/>
      </a:accent1>
      <a:accent2>
        <a:srgbClr val="0078D7"/>
      </a:accent2>
      <a:accent3>
        <a:srgbClr val="002050"/>
      </a:accent3>
      <a:accent4>
        <a:srgbClr val="D2D2D2"/>
      </a:accent4>
      <a:accent5>
        <a:srgbClr val="737373"/>
      </a:accent5>
      <a:accent6>
        <a:srgbClr val="323232"/>
      </a:accent6>
      <a:hlink>
        <a:srgbClr val="5DDCFF"/>
      </a:hlink>
      <a:folHlink>
        <a:srgbClr val="5DDCFF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EE767E89-5D4D-44CA-8070-C9EE1D87F83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d12e2661e9634d9aa98bbb375f31aced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Georgia World Congress Center</TermName>
          <TermId xmlns="http://schemas.microsoft.com/office/infopath/2007/PartnerControls">ea0ece34-59a6-4d43-8d9e-d0f9e2a2f1ce</TermId>
        </TermInfo>
      </Terms>
    </d12e2661e9634d9aa98bbb375f31aced>
    <Event_x0020_Start_x0020_Date xmlns="01c77077-aee4-4b5f-bd4e-9cd40a6fff29">2016-09-25T07:00:00+00:00</Event_x0020_Start_x0020_Date>
    <Target_x0020_Audiences xmlns="8ff673fc-3231-4e3a-893b-6d7f7cd32766" xsi:nil="true"/>
    <iaa5f83406f94009a0f6a3e890699ff7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Atlanta</TermName>
          <TermId xmlns="http://schemas.microsoft.com/office/infopath/2007/PartnerControls">01fb9831-5840-48a0-a576-3e48f42baa53</TermId>
        </TermInfo>
      </Terms>
    </iaa5f83406f94009a0f6a3e890699ff7>
    <External_x0020_Speaker xmlns="01c77077-aee4-4b5f-bd4e-9cd40a6fff29">Michael Kelley</External_x0020_Speaker>
    <m6878b9dd7994da4ba144f95347d99c6 xmlns="01c77077-aee4-4b5f-bd4e-9cd40a6fff29">
      <Terms xmlns="http://schemas.microsoft.com/office/infopath/2007/PartnerControls"/>
    </m6878b9dd7994da4ba144f95347d99c6>
    <Presentation_x0020_Date xmlns="01c77077-aee4-4b5f-bd4e-9cd40a6fff29">2016-09-28T04:00:00+00:00</Presentation_x0020_Date>
    <fc15c16204564de583b4c942b10d19ec xmlns="01c77077-aee4-4b5f-bd4e-9cd40a6fff29">
      <Terms xmlns="http://schemas.microsoft.com/office/infopath/2007/PartnerControls"/>
    </fc15c16204564de583b4c942b10d19ec>
    <mb2e01f7e2d8413988e28e59aa226eec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</TermName>
          <TermId xmlns="http://schemas.microsoft.com/office/infopath/2007/PartnerControls">9323c522-fe4b-4922-816b-10a1920d7afb</TermId>
        </TermInfo>
      </Terms>
    </mb2e01f7e2d8413988e28e59aa226eec>
    <MS_x0020_Content_x0020_Owner xmlns="01c77077-aee4-4b5f-bd4e-9cd40a6fff29">
      <UserInfo>
        <DisplayName/>
        <AccountId xsi:nil="true"/>
        <AccountType/>
      </UserInfo>
    </MS_x0020_Content_x0020_Owner>
    <Session_x0020_Code xmlns="01c77077-aee4-4b5f-bd4e-9cd40a6fff29">BRK2158</Session_x0020_Code>
    <Event_x0020_End_x0020_Date xmlns="01c77077-aee4-4b5f-bd4e-9cd40a6fff29">2016-09-30T07:00:00+00:00</Event_x0020_End_x0020_Date>
    <o1010385baed4da9b5076a6aa651d1e5 xmlns="01c77077-aee4-4b5f-bd4e-9cd40a6fff29">
      <Terms xmlns="http://schemas.microsoft.com/office/infopath/2007/PartnerControls"/>
    </o1010385baed4da9b5076a6aa651d1e5>
    <kc6d1bd9a46e4e5fbbbf99ca3de7a092 xmlns="01c77077-aee4-4b5f-bd4e-9cd40a6fff29">
      <Terms xmlns="http://schemas.microsoft.com/office/infopath/2007/PartnerControls"/>
    </kc6d1bd9a46e4e5fbbbf99ca3de7a092>
    <MS_x0020_Speaker xmlns="01c77077-aee4-4b5f-bd4e-9cd40a6fff29">
      <UserInfo>
        <DisplayName/>
        <AccountId xsi:nil="true"/>
        <AccountType/>
      </UserInfo>
    </MS_x0020_Speaker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 2016</TermName>
          <TermId xmlns="http://schemas.microsoft.com/office/infopath/2007/PartnerControls">e2f6a88c-86f9-4b25-a2af-b5c3afa8c82a</TermId>
        </TermInfo>
      </Terms>
    </TaxKeywordTaxHTField>
    <TaxCatchAll xmlns="230e9df3-be65-4c73-a93b-d1236ebd677e">
      <Value>174</Value>
      <Value>177</Value>
      <Value>176</Value>
      <Value>175</Value>
    </TaxCatchAll>
    <NumberofDownloads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31DCF4CA090F824DB1E4CCBB6B9D64EA00101E8AAD132F8F4D96340D6376C8BB3E" ma:contentTypeVersion="22" ma:contentTypeDescription="" ma:contentTypeScope="" ma:versionID="8add498658ef06bbcf3bc1f2c97d938c">
  <xsd:schema xmlns:xsd="http://www.w3.org/2001/XMLSchema" xmlns:xs="http://www.w3.org/2001/XMLSchema" xmlns:p="http://schemas.microsoft.com/office/2006/metadata/properties" xmlns:ns1="http://schemas.microsoft.com/sharepoint/v3" xmlns:ns2="01c77077-aee4-4b5f-bd4e-9cd40a6fff29" xmlns:ns3="230e9df3-be65-4c73-a93b-d1236ebd677e" xmlns:ns5="8ff673fc-3231-4e3a-893b-6d7f7cd32766" targetNamespace="http://schemas.microsoft.com/office/2006/metadata/properties" ma:root="true" ma:fieldsID="a14070d067e341e7ddc7e27ecc4a2d88" ns1:_="" ns2:_="" ns3:_="" ns5:_="">
    <xsd:import namespace="http://schemas.microsoft.com/sharepoint/v3"/>
    <xsd:import namespace="01c77077-aee4-4b5f-bd4e-9cd40a6fff29"/>
    <xsd:import namespace="230e9df3-be65-4c73-a93b-d1236ebd677e"/>
    <xsd:import namespace="8ff673fc-3231-4e3a-893b-6d7f7cd32766"/>
    <xsd:element name="properties">
      <xsd:complexType>
        <xsd:sequence>
          <xsd:element name="documentManagement">
            <xsd:complexType>
              <xsd:all>
                <xsd:element ref="ns2:mb2e01f7e2d8413988e28e59aa226eec" minOccurs="0"/>
                <xsd:element ref="ns3:TaxCatchAll" minOccurs="0"/>
                <xsd:element ref="ns3:TaxCatchAllLabel" minOccurs="0"/>
                <xsd:element ref="ns2:iaa5f83406f94009a0f6a3e890699ff7" minOccurs="0"/>
                <xsd:element ref="ns2:d12e2661e9634d9aa98bbb375f31aced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o1010385baed4da9b5076a6aa651d1e5" minOccurs="0"/>
                <xsd:element ref="ns2:kc6d1bd9a46e4e5fbbbf99ca3de7a092" minOccurs="0"/>
                <xsd:element ref="ns2:Session_x0020_Code" minOccurs="0"/>
                <xsd:element ref="ns2:MS_x0020_Content_x0020_Owner" minOccurs="0"/>
                <xsd:element ref="ns2:m6878b9dd7994da4ba144f95347d99c6" minOccurs="0"/>
                <xsd:element ref="ns2:fc15c16204564de583b4c942b10d19ec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5:Target_x0020_Audiences" minOccurs="0"/>
                <xsd:element ref="ns2:SharedWithUsers" minOccurs="0"/>
                <xsd:element ref="ns2:SharedWithDetails" minOccurs="0"/>
                <xsd:element ref="ns3:NumberofDownloa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77077-aee4-4b5f-bd4e-9cd40a6fff29" elementFormDefault="qualified">
    <xsd:import namespace="http://schemas.microsoft.com/office/2006/documentManagement/types"/>
    <xsd:import namespace="http://schemas.microsoft.com/office/infopath/2007/PartnerControls"/>
    <xsd:element name="mb2e01f7e2d8413988e28e59aa226eec" ma:index="8" nillable="true" ma:taxonomy="true" ma:internalName="mb2e01f7e2d8413988e28e59aa226eec" ma:taxonomyFieldName="Event_x0020_Name" ma:displayName="Event Name" ma:default="" ma:fieldId="{6b2e01f7-e2d8-4139-88e2-8e59aa226eec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iaa5f83406f94009a0f6a3e890699ff7" ma:index="12" nillable="true" ma:taxonomy="true" ma:internalName="iaa5f83406f94009a0f6a3e890699ff7" ma:taxonomyFieldName="Event_x0020_Location" ma:displayName="Event Location" ma:default="" ma:fieldId="{2aa5f834-06f9-4009-a0f6-a3e890699ff7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12e2661e9634d9aa98bbb375f31aced" ma:index="14" nillable="true" ma:taxonomy="true" ma:internalName="d12e2661e9634d9aa98bbb375f31aced" ma:taxonomyFieldName="Event_x0020_Venue" ma:displayName="Event Venue" ma:default="" ma:fieldId="{d12e2661-e963-4d9a-a98b-bb375f31aced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o1010385baed4da9b5076a6aa651d1e5" ma:index="21" nillable="true" ma:taxonomy="true" ma:internalName="o1010385baed4da9b5076a6aa651d1e5" ma:taxonomyFieldName="Product" ma:displayName="Product" ma:default="" ma:fieldId="{81010385-baed-4da9-b507-6a6aa651d1e5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6d1bd9a46e4e5fbbbf99ca3de7a092" ma:index="23" nillable="true" ma:taxonomy="true" ma:internalName="kc6d1bd9a46e4e5fbbbf99ca3de7a092" ma:taxonomyFieldName="Campaign" ma:displayName="Campaign" ma:default="" ma:fieldId="{4c6d1bd9-a46e-4e5f-bbbf-99ca3de7a092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6878b9dd7994da4ba144f95347d99c6" ma:index="27" nillable="true" ma:taxonomy="true" ma:internalName="m6878b9dd7994da4ba144f95347d99c6" ma:taxonomyFieldName="Track" ma:displayName="Track" ma:readOnly="false" ma:default="" ma:fieldId="{66878b9d-d799-4da4-ba14-4f95347d99c6}" ma:sspId="e385fb40-52d4-4fae-9c5b-3e8ff8a5878e" ma:termSetId="8113a965-58e2-4a85-99b9-55376be5482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c15c16204564de583b4c942b10d19ec" ma:index="29" nillable="true" ma:taxonomy="true" ma:internalName="fc15c16204564de583b4c942b10d19ec" ma:taxonomyFieldName="Audience1" ma:displayName="Audience" ma:default="" ma:fieldId="{fc15c162-0456-4de5-83b4-c942b10d19ec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8ba32e-6f24-4e39-985b-e3fd5ec6bdb7}" ma:internalName="TaxCatchAll" ma:showField="CatchAllData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8ba32e-6f24-4e39-985b-e3fd5ec6bdb7}" ma:internalName="TaxCatchAllLabel" ma:readOnly="true" ma:showField="CatchAllDataLabel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NumberofDownloads" ma:index="40" nillable="true" ma:displayName="NumberofDownloads" ma:internalName="NumberofDownload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673fc-3231-4e3a-893b-6d7f7cd32766" elementFormDefault="qualified">
    <xsd:import namespace="http://schemas.microsoft.com/office/2006/documentManagement/types"/>
    <xsd:import namespace="http://schemas.microsoft.com/office/infopath/2007/PartnerControls"/>
    <xsd:element name="Target_x0020_Audiences" ma:index="37" nillable="true" ma:displayName="Target Audiences" ma:internalName="Target_x0020_Audience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01c77077-aee4-4b5f-bd4e-9cd40a6fff29"/>
    <ds:schemaRef ds:uri="http://schemas.microsoft.com/sharepoint/v3"/>
    <ds:schemaRef ds:uri="8ff673fc-3231-4e3a-893b-6d7f7cd3276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D8F288A-5131-4E80-AB86-F10FC0373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c77077-aee4-4b5f-bd4e-9cd40a6fff29"/>
    <ds:schemaRef ds:uri="230e9df3-be65-4c73-a93b-d1236ebd677e"/>
    <ds:schemaRef ds:uri="8ff673fc-3231-4e3a-893b-6d7f7cd32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Microsoft_Ignite_2016_16x9_Template</Template>
  <TotalTime>1748</TotalTime>
  <Words>961</Words>
  <Application>Microsoft Office PowerPoint</Application>
  <PresentationFormat>Custom</PresentationFormat>
  <Paragraphs>157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Consolas</vt:lpstr>
      <vt:lpstr>Maven Pro Black</vt:lpstr>
      <vt:lpstr>Maven Pro Regular</vt:lpstr>
      <vt:lpstr>Segoe UI</vt:lpstr>
      <vt:lpstr>Segoe UI Light</vt:lpstr>
      <vt:lpstr>Wingdings</vt:lpstr>
      <vt:lpstr>5-50002_Ignite_Breakout_Template</vt:lpstr>
      <vt:lpstr>1_5-50002_Ignite_Breakout_Template</vt:lpstr>
      <vt:lpstr>5-30721_Build_2016_Template_Light</vt:lpstr>
      <vt:lpstr>5-30721_Build_2016_Template_Dark</vt:lpstr>
      <vt:lpstr>Azure Managed Grafana: monitoramento na nuvem com eficiência e flexibilidade</vt:lpstr>
      <vt:lpstr>Renato Groffe</vt:lpstr>
      <vt:lpstr>Milton Câmara</vt:lpstr>
      <vt:lpstr>Participe de nossas iniciativas gratuitas</vt:lpstr>
      <vt:lpstr>Conteúdos desta apresentação</vt:lpstr>
      <vt:lpstr>Agenda</vt:lpstr>
      <vt:lpstr>Monitoramento e Observabilidade na nuvem</vt:lpstr>
      <vt:lpstr>Pilares da Observabilidade</vt:lpstr>
      <vt:lpstr>Grafana: uma visão geral</vt:lpstr>
      <vt:lpstr>Grafana: uma visão geral</vt:lpstr>
      <vt:lpstr>Grafana: uma visão geral</vt:lpstr>
      <vt:lpstr>Stack Grafana: uma visão geral</vt:lpstr>
      <vt:lpstr>Integração Azure + Grafana</vt:lpstr>
      <vt:lpstr>Azure Managed Grafana</vt:lpstr>
      <vt:lpstr>Azure Managed Grafana</vt:lpstr>
      <vt:lpstr>Conteúdos desta apresentação</vt:lpstr>
      <vt:lpstr>EXEMPLOS PRÁTICOS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why Microsoft loves Linux and Open Source</dc:title>
  <dc:subject>&lt;Speech title here&gt;</dc:subject>
  <dc:creator>Michael Kelley (OSTC)</dc:creator>
  <cp:keywords>Microsoft Ignite 2016</cp:keywords>
  <dc:description>Template: Mitchell Derrey, Silverfox Productions_x000d_
Formatting: _x000d_
Audience Type:</dc:description>
  <cp:lastModifiedBy>Milton Camara</cp:lastModifiedBy>
  <cp:revision>508</cp:revision>
  <dcterms:created xsi:type="dcterms:W3CDTF">2016-08-05T22:03:34Z</dcterms:created>
  <dcterms:modified xsi:type="dcterms:W3CDTF">2026-03-20T16:56:09Z</dcterms:modified>
  <cp:category>Microsoft Ignite 2016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0x01010031DCF4CA090F824DB1E4CCBB6B9D64EA00101E8AAD132F8F4D96340D6376C8BB3E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177;#Georgia World Congress Center|ea0ece34-59a6-4d43-8d9e-d0f9e2a2f1ce</vt:lpwstr>
  </property>
  <property fmtid="{D5CDD505-2E9C-101B-9397-08002B2CF9AE}" pid="7" name="Track">
    <vt:lpwstr/>
  </property>
  <property fmtid="{D5CDD505-2E9C-101B-9397-08002B2CF9AE}" pid="8" name="Event Location">
    <vt:lpwstr>176;#Atlanta|01fb9831-5840-48a0-a576-3e48f42baa53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174;#Microsoft Ignite 2016|e2f6a88c-86f9-4b25-a2af-b5c3afa8c82a</vt:lpwstr>
  </property>
  <property fmtid="{D5CDD505-2E9C-101B-9397-08002B2CF9AE}" pid="12" name="Audience1">
    <vt:lpwstr/>
  </property>
  <property fmtid="{D5CDD505-2E9C-101B-9397-08002B2CF9AE}" pid="13" name="Event Name">
    <vt:lpwstr>175;#Microsoft Ignite|9323c522-fe4b-4922-816b-10a1920d7afb</vt:lpwstr>
  </property>
</Properties>
</file>